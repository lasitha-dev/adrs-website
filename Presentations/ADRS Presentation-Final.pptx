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CF5C87-BA51-7C89-FE76-94486F259609}" v="9" dt="2026-10-19T10:21:11.567"/>
    <p1510:client id="{93539420-EF0D-E237-7B65-8F671DBABF67}" v="38" dt="2026-10-20T03:15:38.901"/>
    <p1510:client id="{C04824B9-47AE-D890-C052-CDB147E23AB5}" v="296" dt="2026-10-19T22:31:49.405"/>
    <p1510:client id="{E5F11D9B-A190-8489-2DDD-5533B2CAD056}" v="31" dt="2026-10-19T08:25:53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76605E-5DDD-44C3-8C36-C478993CF6C1}" type="datetimeFigureOut"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763B9-1205-4C8B-B009-A985969774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08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Purpose: explicitly address every recorded PP2 comment for panel SE-P02, matching student IDs to uploaded theses.
Smart Diagnosis: thesis Chapter 6 documents ViT held-out accuracy 90.11%, YOLO validation curves and refined segmentation mIoU 0.4078 (baseline ~0.298); independent clinical review on adrs-clinical-review.me could not be accessed during production.
Wellness: thesis §6.1 documents 99.80% on engineered monitoring dataset and automatic THI; daily yield/weight intake remains manual, so the intake feedback is only partially resolved.
Forecast: thesis §6.1 uses 2024 holdout and year-separated validation. This must not be described as observed prospective future-date forecasting.
Geospatial: thesis §6.1 documents held-out ranking conditional on a 25 km envelope, and directional structural verification. User-facing fourteen-day forecast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official project title is A Centralized System for Real-Time Farm Animal Disease Reporting.
Problem framing synthesized from all four theses: fragmented reporting and insufficient timely, spatial and physiologic context.
Design excellence is modular decision support and evidence traceability, not a claim that all subcomponents have prospective clinical field validation or autonomous diagnosis.
Architecture draws from Smart Diagnosis Figure 1 and each component thesis introduction. Human veterinary review remains the decision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Member: W.M.P.J. Wijenayake (IT22194558).
Slide explains two-phase wellness triage: logs are input daily; an anomaly can automatically initiate deeper analysis or user manually requests it. 7-day logs, THI, static breed context and image-based BCS are fused into Healthy, Heat Stress or Unhealthy.
Thesis §6.1: 99.80% Random Forest accuracy on mathematically engineered breed baselines and 3-day physiological trend scenarios. 20-cow controlled demonstration reached 100% for optimized fusion model, but too small and synthetically structured to claim clinical generalization.
PP2 response: alert initiation and weather/THI intake are automated, but daily health data input is still manual. Acknowledge openly.
Visual is actual Figure 4 from uploaded W.M.P.J. Wijenayake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Member: A.L.M. Athulathmudali IT21129544.
Object detector YOLOv8s identifies bounding boxes; coordinates generate ROI crops; square-pad, resize 224 × 224, ImageNet-normalize; ViT-B/16 predicts four labels; optional ResNet50 backbone with custom mask head outputs lesion mask. Do not call this a full Mask R-CNN.
Thesis Chapter 6: held-out ViT test accuracy 90.11%, YOLO validation mAP50 ~0.81 at epoch86 and refined segmentation mIoU 0.4078 on 100 samples vs 0.298. Class-specific detector metrics and formal calibration not reported.
No independently verifiable results from https://adrs-clinical-review.me/ were available at deck preparation. Replace final UAT status only when signed evaluator data/screenshots are provided.
Source figure: Smart Diagnosis thesis Fig. 5, original embedded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Member: S.S. Kumarasinghe IT22221414.
FMD 2400 district-month observations 2017-2024. Baseline 30-feature logistic regression production model; 31-feature variant adds previous-month district outbreak and is the reported stronger held-out 2024 result (ROC-AUC 0.8166, PR-AUC 0.6968, recall 67.9% at 0.40 decision threshold). Mean walk-forward ROC-AUC 0.8120 across 2022-2024.
LSD 1500 district-month observations 2020–2024. Platt-calibrated ElasticNet 28 features mean LOYO ROC-AUC 0.6136 and PR-AUC 0.2699.
PP2 response: year-separated holdout evaluates generalization across prior years, but software projections for future dates use historical same-calendar-month proxies. This is NOT validated future-weather based prediction.
Original Figure 6 from forecast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Member: G.A. Sandaru IT22258908.
LSD: 3089 source records, 2587 conservative entries, 1480 model-eligible candidates; model C0 uses exp(-d/25km) summed over prior eligible sources and ranks approximately 5-km cells. This score is not infection probability.
D1–D7 held-out mean area-weighted percentile 73.85 (95% origin interval 70.51–77.11), conditional on a 25km domain. 323 of 588 targets fell inside the domain; Sri Lankan transfer sample had just one evaluable target.
One technical test validated the geometric direction field over 560853 cells without invariant violations; it does NOT validate actual transmission bearings. Historical apparent spread rate 3.946 km/day nominal, not actual validated infection speed.
The My Area 14-day timeline image is an illustrative UI output and cannot be presented as validated 14-day prediction. Original fig 6.4 from geospatial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Compare unlike metrics honestly. The wellness result is RF accuracy on mathematically engineered scenarios; the diagnosis 90.11% is held-out classification; FMD 0.8166 is ROC-AUC and not accuracy; the geospatial 73.85 is an area-weighted rank percentile conditional on a 25 km evaluation scope and not predictive accuracy.
Clinical feedback: wellness thesis describes qualitative positive practitioner feedback; source does not include an independently authenticated UAT score that can be shown as a validated acceptance result. The smart-diagnosis review site https://adrs-clinical-review.me/ failed to load via available browsing and DNS during deck creation. Do not invent clinician quotes or ratings.
Limitations/future work directly synthesize uploaded individual theses: synthetic wellness sequences; CV no OOD/calibration, no cross-buffalo split; nowcast future proxy is not validated forecast; geo mostly historical non-local material and 14-day UI illustrative.
Before submission, replace the clinical-review section only after uploading actual review screenshots/export and signed vet UAT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web page&#10;&#10;AI-generated content may be incorrect.">
            <a:extLst>
              <a:ext uri="{FF2B5EF4-FFF2-40B4-BE49-F238E27FC236}">
                <a16:creationId xmlns:a16="http://schemas.microsoft.com/office/drawing/2014/main" id="{DF1136E8-3E4F-5BF2-7B42-8E10DC0B7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098B91"/>
          </a:solidFill>
          <a:ln w="12700">
            <a:solidFill>
              <a:srgbClr val="098B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12064" y="182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R26-SE-013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543800" y="182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65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SLIIT  /  SOFTWARE ENGINEERING  /  FINAL VIVA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12064" y="64922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PP2 COMMENTS &amp; RESPONSE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12064" y="941832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feedback → research response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21208" y="1453896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>
                <a:solidFill>
                  <a:srgbClr val="5C7284"/>
                </a:solidFill>
                <a:latin typeface="Inter"/>
                <a:ea typeface="Inter"/>
                <a:cs typeface="Inter" pitchFamily="34" charset="-120"/>
              </a:rPr>
              <a:t>Four individual research components</a:t>
            </a:r>
            <a:endParaRPr lang="en-US" sz="1100">
              <a:latin typeface="Inter"/>
              <a:ea typeface="Inter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2064" y="6345936"/>
            <a:ext cx="11128248" cy="0"/>
          </a:xfrm>
          <a:prstGeom prst="line">
            <a:avLst/>
          </a:prstGeom>
          <a:noFill/>
          <a:ln w="1016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21208" y="6419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System for Real-Time Farm Animal Disease Reporting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0725912" y="6396228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07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521208" y="1938528"/>
            <a:ext cx="11109960" cy="429768"/>
          </a:xfrm>
          <a:prstGeom prst="roundRect">
            <a:avLst>
              <a:gd name="adj" fmla="val 17021"/>
            </a:avLst>
          </a:prstGeom>
          <a:solidFill>
            <a:srgbClr val="112A43"/>
          </a:solidFill>
          <a:ln w="12700">
            <a:solidFill>
              <a:srgbClr val="11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21792" y="20299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kern="0" spc="4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2432304" y="2029968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kern="0" spc="4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PP2 FEEDBACK</a:t>
            </a:r>
            <a:endParaRPr lang="en-US" sz="850"/>
          </a:p>
        </p:txBody>
      </p:sp>
      <p:sp>
        <p:nvSpPr>
          <p:cNvPr id="14" name="Text 12"/>
          <p:cNvSpPr/>
          <p:nvPr/>
        </p:nvSpPr>
        <p:spPr>
          <a:xfrm>
            <a:off x="5897880" y="20299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kern="0" spc="4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/ EVIDENCE FROM THESIS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9427464" y="2029968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kern="0" spc="4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BOUNDARY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521208" y="2432304"/>
            <a:ext cx="11109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21792" y="25511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IT21129544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21792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Diagnosis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2423160" y="2523744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>
                <a:solidFill>
                  <a:srgbClr val="182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 evaluation should be done.</a:t>
            </a:r>
            <a:endParaRPr lang="en-US" sz="1060"/>
          </a:p>
        </p:txBody>
      </p:sp>
      <p:sp>
        <p:nvSpPr>
          <p:cNvPr id="20" name="Text 18"/>
          <p:cNvSpPr/>
          <p:nvPr/>
        </p:nvSpPr>
        <p:spPr>
          <a:xfrm>
            <a:off x="5888736" y="2523744"/>
            <a:ext cx="3236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rgbClr val="182C3B"/>
                </a:solidFill>
                <a:latin typeface="Inter"/>
                <a:ea typeface="Inter"/>
                <a:cs typeface="Inter" pitchFamily="34" charset="-120"/>
              </a:rPr>
              <a:t>Held-out </a:t>
            </a:r>
            <a:r>
              <a:rPr lang="en-US" sz="1000" dirty="0" err="1">
                <a:solidFill>
                  <a:srgbClr val="182C3B"/>
                </a:solidFill>
                <a:latin typeface="Inter"/>
                <a:ea typeface="Inter"/>
                <a:cs typeface="Inter" pitchFamily="34" charset="-120"/>
              </a:rPr>
              <a:t>ViT</a:t>
            </a:r>
            <a:r>
              <a:rPr lang="en-US" sz="1000" dirty="0">
                <a:solidFill>
                  <a:srgbClr val="182C3B"/>
                </a:solidFill>
                <a:latin typeface="Inter"/>
                <a:ea typeface="Inter"/>
                <a:cs typeface="Inter" pitchFamily="34" charset="-120"/>
              </a:rPr>
              <a:t> test (90.11%); detector validation</a:t>
            </a:r>
            <a:endParaRPr lang="en-US" sz="1000" dirty="0">
              <a:solidFill>
                <a:srgbClr val="000000"/>
              </a:solidFill>
              <a:latin typeface="Inter"/>
              <a:ea typeface="Inter"/>
              <a:cs typeface="Inter" pitchFamily="34" charset="-120"/>
            </a:endParaRPr>
          </a:p>
          <a:p>
            <a:pPr marL="171450" indent="-171450">
              <a:buFont typeface="Arial"/>
              <a:buChar char="•"/>
            </a:pPr>
            <a:r>
              <a:rPr lang="en-US" sz="1000">
                <a:solidFill>
                  <a:srgbClr val="182C3B"/>
                </a:solidFill>
                <a:latin typeface="Inter"/>
                <a:ea typeface="Inter"/>
                <a:cs typeface="Inter" pitchFamily="34" charset="-120"/>
              </a:rPr>
              <a:t>segmentation comparison.</a:t>
            </a:r>
            <a:endParaRPr lang="en-US" sz="1000">
              <a:latin typeface="Inter"/>
              <a:ea typeface="Inter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27464" y="252374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000" b="1">
                <a:solidFill>
                  <a:srgbClr val="C75E52"/>
                </a:solidFill>
                <a:latin typeface="Inter"/>
                <a:ea typeface="Inter"/>
                <a:cs typeface="Inter" pitchFamily="34" charset="-120"/>
              </a:rPr>
              <a:t>Clinical-review portal verified with limited sample images.</a:t>
            </a:r>
            <a:endParaRPr lang="en-US" sz="1000">
              <a:latin typeface="Inter"/>
              <a:ea typeface="Inter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21208" y="3282696"/>
            <a:ext cx="11109960" cy="804672"/>
          </a:xfrm>
          <a:prstGeom prst="roundRect">
            <a:avLst>
              <a:gd name="adj" fmla="val 6818"/>
            </a:avLst>
          </a:prstGeom>
          <a:solidFill>
            <a:srgbClr val="F3F7FA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21792" y="34015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IT22194558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621792" y="36667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Triage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2423160" y="3374136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>
                <a:solidFill>
                  <a:srgbClr val="182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input intake instead of user-entry; conduct proper evaluation.</a:t>
            </a:r>
            <a:endParaRPr lang="en-US" sz="1060"/>
          </a:p>
        </p:txBody>
      </p:sp>
      <p:sp>
        <p:nvSpPr>
          <p:cNvPr id="26" name="Text 24"/>
          <p:cNvSpPr/>
          <p:nvPr/>
        </p:nvSpPr>
        <p:spPr>
          <a:xfrm>
            <a:off x="5888736" y="3374136"/>
            <a:ext cx="3236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000">
                <a:solidFill>
                  <a:srgbClr val="182C3B"/>
                </a:solidFill>
                <a:latin typeface="Inter"/>
                <a:ea typeface="Inter"/>
                <a:cs typeface="Inter" pitchFamily="34" charset="-120"/>
              </a:rPr>
              <a:t>Automated anomaly trigger and weather/THI retrieval</a:t>
            </a:r>
            <a:endParaRPr lang="en-US" sz="1000">
              <a:solidFill>
                <a:srgbClr val="000000"/>
              </a:solidFill>
              <a:latin typeface="Inter"/>
              <a:ea typeface="Inter"/>
              <a:cs typeface="Inter" pitchFamily="34" charset="-120"/>
            </a:endParaRPr>
          </a:p>
          <a:p>
            <a:pPr marL="171450" indent="-171450">
              <a:lnSpc>
                <a:spcPct val="100000"/>
              </a:lnSpc>
              <a:buFont typeface="Arial"/>
              <a:buChar char="•"/>
            </a:pPr>
            <a:r>
              <a:rPr lang="en-US" sz="1000">
                <a:solidFill>
                  <a:srgbClr val="182C3B"/>
                </a:solidFill>
                <a:latin typeface="Inter"/>
                <a:ea typeface="Inter"/>
                <a:cs typeface="Inter" pitchFamily="34" charset="-120"/>
              </a:rPr>
              <a:t>95.80% RF internal test result.</a:t>
            </a:r>
            <a:endParaRPr lang="en-US" sz="1000">
              <a:latin typeface="Inter"/>
              <a:ea typeface="Inter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27464" y="337413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lnSpc>
                <a:spcPct val="100000"/>
              </a:lnSpc>
              <a:buFont typeface="Arial"/>
              <a:buChar char="•"/>
            </a:pPr>
            <a:r>
              <a:rPr lang="en-US" sz="1000" b="1">
                <a:solidFill>
                  <a:srgbClr val="C75E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observations still manually entered.</a:t>
            </a:r>
            <a:endParaRPr lang="en-US" sz="1000">
              <a:ea typeface="Inter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9113" y="4119215"/>
            <a:ext cx="11122055" cy="1058671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21792" y="4251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IT22221414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21792" y="45171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Forecasting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2423160" y="4224528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>
                <a:solidFill>
                  <a:srgbClr val="182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component accuracy using future data; evaluate properly.</a:t>
            </a:r>
            <a:endParaRPr lang="en-US" sz="1060"/>
          </a:p>
        </p:txBody>
      </p:sp>
      <p:sp>
        <p:nvSpPr>
          <p:cNvPr id="32" name="Text 30"/>
          <p:cNvSpPr/>
          <p:nvPr/>
        </p:nvSpPr>
        <p:spPr>
          <a:xfrm>
            <a:off x="5900831" y="4248718"/>
            <a:ext cx="3224881" cy="79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100" dirty="0">
                <a:solidFill>
                  <a:srgbClr val="182C3B"/>
                </a:solidFill>
                <a:ea typeface="+mn-lt"/>
                <a:cs typeface="+mn-lt"/>
              </a:rPr>
              <a:t>Rolling-origin back-test on held-out months (FMD 2022–23, </a:t>
            </a:r>
            <a:r>
              <a:rPr lang="en-US" sz="1100">
                <a:solidFill>
                  <a:srgbClr val="182C3B"/>
                </a:solidFill>
                <a:ea typeface="+mn-lt"/>
                <a:cs typeface="+mn-lt"/>
              </a:rPr>
              <a:t>LSD 2023–24), vs seasonal-average and last-month </a:t>
            </a:r>
            <a:r>
              <a:rPr lang="en-US" sz="1000">
                <a:solidFill>
                  <a:srgbClr val="182C3B"/>
                </a:solidFill>
                <a:ea typeface="+mn-lt"/>
                <a:cs typeface="+mn-lt"/>
              </a:rPr>
              <a:t>baselines</a:t>
            </a:r>
            <a:endParaRPr lang="en-US" sz="1000">
              <a:solidFill>
                <a:srgbClr val="000000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100">
                <a:solidFill>
                  <a:srgbClr val="182C3B"/>
                </a:solidFill>
                <a:ea typeface="+mn-lt"/>
                <a:cs typeface="+mn-lt"/>
              </a:rPr>
              <a:t>PR-AUC gain with 6-month block bootstrap</a:t>
            </a:r>
            <a:endParaRPr lang="en-US" sz="1100">
              <a:solidFill>
                <a:srgbClr val="000000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100">
                <a:solidFill>
                  <a:srgbClr val="182C3B"/>
                </a:solidFill>
                <a:ea typeface="+mn-lt"/>
                <a:cs typeface="+mn-lt"/>
              </a:rPr>
              <a:t>Veterinary expert </a:t>
            </a:r>
            <a:r>
              <a:rPr lang="en-US" sz="1100" dirty="0">
                <a:solidFill>
                  <a:srgbClr val="182C3B"/>
                </a:solidFill>
                <a:ea typeface="+mn-lt"/>
                <a:cs typeface="+mn-lt"/>
              </a:rPr>
              <a:t>review letters.</a:t>
            </a:r>
            <a:endParaRPr lang="en-US" sz="1100">
              <a:ea typeface="Inter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427464" y="42469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000" b="1">
                <a:solidFill>
                  <a:srgbClr val="C75E52"/>
                </a:solidFill>
                <a:ea typeface="+mn-lt"/>
                <a:cs typeface="+mn-lt"/>
              </a:rPr>
              <a:t>Back-tested on historical data only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>
                <a:solidFill>
                  <a:srgbClr val="C75E52"/>
                </a:solidFill>
                <a:ea typeface="+mn-lt"/>
                <a:cs typeface="+mn-lt"/>
              </a:rPr>
              <a:t>forecasts now stored frozen to be scored </a:t>
            </a:r>
            <a:r>
              <a:rPr lang="en-US" sz="1000" b="1" dirty="0">
                <a:solidFill>
                  <a:srgbClr val="C75E52"/>
                </a:solidFill>
                <a:ea typeface="+mn-lt"/>
                <a:cs typeface="+mn-lt"/>
              </a:rPr>
              <a:t>prospectively.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>
                <a:solidFill>
                  <a:srgbClr val="C75E52"/>
                </a:solidFill>
                <a:ea typeface="+mn-lt"/>
                <a:cs typeface="+mn-lt"/>
              </a:rPr>
              <a:t>Evidence modest</a:t>
            </a:r>
            <a:endParaRPr lang="en-US">
              <a:ea typeface="Inter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21208" y="5261670"/>
            <a:ext cx="11109960" cy="804672"/>
          </a:xfrm>
          <a:prstGeom prst="roundRect">
            <a:avLst>
              <a:gd name="adj" fmla="val 6818"/>
            </a:avLst>
          </a:prstGeom>
          <a:solidFill>
            <a:srgbClr val="F3F7FA"/>
          </a:solidFill>
          <a:ln w="889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21792" y="538054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IT22258908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21792" y="564571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Geospatial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2423160" y="5353110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60">
                <a:solidFill>
                  <a:srgbClr val="182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 evaluation; PP2 demo used dummy data due to API outage.</a:t>
            </a:r>
            <a:endParaRPr lang="en-US" sz="1060"/>
          </a:p>
        </p:txBody>
      </p:sp>
      <p:sp>
        <p:nvSpPr>
          <p:cNvPr id="38" name="Text 36"/>
          <p:cNvSpPr/>
          <p:nvPr/>
        </p:nvSpPr>
        <p:spPr>
          <a:xfrm>
            <a:off x="5888736" y="5353110"/>
            <a:ext cx="3236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lnSpc>
                <a:spcPct val="100000"/>
              </a:lnSpc>
              <a:buFont typeface="Arial"/>
              <a:buChar char="•"/>
            </a:pPr>
            <a:r>
              <a:rPr lang="en-US" sz="1020">
                <a:solidFill>
                  <a:srgbClr val="182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Retrospective LSD 7-day spatial ranking (73.85 percentile) and structural direction checks.</a:t>
            </a:r>
            <a:endParaRPr lang="en-US" sz="1020">
              <a:ea typeface="Inter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427464" y="535311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lnSpc>
                <a:spcPct val="100000"/>
              </a:lnSpc>
              <a:buFont typeface="Arial"/>
              <a:buChar char="•"/>
            </a:pPr>
            <a:r>
              <a:rPr lang="en-US" sz="1000" b="1">
                <a:solidFill>
                  <a:srgbClr val="C75E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prospective/live field validation.</a:t>
            </a:r>
            <a:endParaRPr lang="en-US" sz="1000">
              <a:ea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098B91"/>
          </a:solidFill>
          <a:ln w="12700">
            <a:solidFill>
              <a:srgbClr val="098B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12064" y="182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R26-SE-013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543800" y="182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65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SLIIT  /  SOFTWARE ENGINEERING  /  FINAL VIVA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12064" y="64922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PROBLEM &amp; SOLUTION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12064" y="941832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b="1">
                <a:solidFill>
                  <a:srgbClr val="112A43"/>
                </a:solidFill>
                <a:latin typeface="Inter"/>
                <a:ea typeface="Inter"/>
                <a:cs typeface="Inter" pitchFamily="34" charset="-120"/>
              </a:rPr>
              <a:t>Why ADRS - And what is different</a:t>
            </a:r>
            <a:endParaRPr lang="en-US" sz="2400">
              <a:latin typeface="Inter"/>
              <a:ea typeface="Inter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1208" y="1453896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4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traceable veterinary decision-support workflow for Sri Lankan livestock surveillance.</a:t>
            </a:r>
            <a:endParaRPr lang="en-US" sz="1140"/>
          </a:p>
        </p:txBody>
      </p:sp>
      <p:sp>
        <p:nvSpPr>
          <p:cNvPr id="8" name="Shape 6"/>
          <p:cNvSpPr/>
          <p:nvPr/>
        </p:nvSpPr>
        <p:spPr>
          <a:xfrm>
            <a:off x="512064" y="6345936"/>
            <a:ext cx="11128248" cy="0"/>
          </a:xfrm>
          <a:prstGeom prst="line">
            <a:avLst/>
          </a:prstGeom>
          <a:noFill/>
          <a:ln w="1016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21208" y="6419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System for Real-Time Farm Animal Disease Reporting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0725912" y="6396228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07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509113" y="1947672"/>
            <a:ext cx="4842787" cy="3974737"/>
          </a:xfrm>
          <a:prstGeom prst="roundRect">
            <a:avLst>
              <a:gd name="adj" fmla="val 5063"/>
            </a:avLst>
          </a:prstGeom>
          <a:solidFill>
            <a:srgbClr val="112A43"/>
          </a:solidFill>
          <a:ln w="12700">
            <a:solidFill>
              <a:srgbClr val="11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04672" y="22677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kern="0" spc="130">
                <a:solidFill>
                  <a:srgbClr val="77C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795528" y="2600428"/>
            <a:ext cx="408736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5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records.</a:t>
            </a:r>
            <a:endParaRPr lang="en-US" sz="2500"/>
          </a:p>
          <a:p>
            <a:pPr marL="0" indent="0">
              <a:lnSpc>
                <a:spcPct val="100000"/>
              </a:lnSpc>
              <a:buNone/>
            </a:pPr>
            <a:r>
              <a:rPr lang="en-US" sz="25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action.</a:t>
            </a:r>
            <a:endParaRPr lang="en-US" sz="2500"/>
          </a:p>
          <a:p>
            <a:pPr marL="0" indent="0">
              <a:lnSpc>
                <a:spcPct val="100000"/>
              </a:lnSpc>
              <a:buNone/>
            </a:pPr>
            <a:r>
              <a:rPr lang="en-US" sz="25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Incomplete context.</a:t>
            </a:r>
            <a:endParaRPr lang="en-US" sz="2500"/>
          </a:p>
        </p:txBody>
      </p:sp>
      <p:sp>
        <p:nvSpPr>
          <p:cNvPr id="14" name="Text 12"/>
          <p:cNvSpPr/>
          <p:nvPr/>
        </p:nvSpPr>
        <p:spPr>
          <a:xfrm>
            <a:off x="804672" y="4028586"/>
            <a:ext cx="3937822" cy="1661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>
                <a:solidFill>
                  <a:srgbClr val="D5E5ED"/>
                </a:solidFill>
                <a:ea typeface="+mn-lt"/>
                <a:cs typeface="+mn-lt"/>
              </a:rPr>
              <a:t>No affordable, shared evidence chain currently moves from farmer signal to clinical action, mapped trajectory, and district response. </a:t>
            </a:r>
            <a:endParaRPr lang="en-US" sz="13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1300" dirty="0">
              <a:solidFill>
                <a:srgbClr val="D5E5ED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300">
                <a:solidFill>
                  <a:srgbClr val="D5E5ED"/>
                </a:solidFill>
                <a:ea typeface="+mn-lt"/>
                <a:cs typeface="+mn-lt"/>
              </a:rPr>
              <a:t>Farm-level symptoms, images and case reports are interpreted separately from spatial and climatic trends.</a:t>
            </a:r>
            <a:endParaRPr lang="en-US" sz="1300">
              <a:ea typeface="Inter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0" y="1947672"/>
            <a:ext cx="2880360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5632704" y="2093976"/>
            <a:ext cx="411480" cy="265176"/>
          </a:xfrm>
          <a:prstGeom prst="roundRect">
            <a:avLst>
              <a:gd name="adj" fmla="val 41379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724144" y="211226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5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5632704" y="24505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2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triage</a:t>
            </a:r>
            <a:endParaRPr lang="en-US" sz="1420"/>
          </a:p>
        </p:txBody>
      </p:sp>
      <p:sp>
        <p:nvSpPr>
          <p:cNvPr id="19" name="Text 17"/>
          <p:cNvSpPr/>
          <p:nvPr/>
        </p:nvSpPr>
        <p:spPr>
          <a:xfrm>
            <a:off x="5632704" y="2852928"/>
            <a:ext cx="2523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25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trends + 2D body condition + thermal context.</a:t>
            </a:r>
            <a:endParaRPr lang="en-US" sz="1025"/>
          </a:p>
        </p:txBody>
      </p:sp>
      <p:sp>
        <p:nvSpPr>
          <p:cNvPr id="20" name="Shape 18"/>
          <p:cNvSpPr/>
          <p:nvPr/>
        </p:nvSpPr>
        <p:spPr>
          <a:xfrm>
            <a:off x="8577072" y="1947672"/>
            <a:ext cx="2880360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8723376" y="2093976"/>
            <a:ext cx="411480" cy="265176"/>
          </a:xfrm>
          <a:prstGeom prst="roundRect">
            <a:avLst>
              <a:gd name="adj" fmla="val 41379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8814816" y="211226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5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8723376" y="24505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2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diagnosis</a:t>
            </a:r>
            <a:endParaRPr lang="en-US" sz="1420"/>
          </a:p>
        </p:txBody>
      </p:sp>
      <p:sp>
        <p:nvSpPr>
          <p:cNvPr id="24" name="Text 22"/>
          <p:cNvSpPr/>
          <p:nvPr/>
        </p:nvSpPr>
        <p:spPr>
          <a:xfrm>
            <a:off x="8723376" y="2852928"/>
            <a:ext cx="2523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25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localisation, candidate class and lesion mask.</a:t>
            </a:r>
            <a:endParaRPr lang="en-US" sz="1025"/>
          </a:p>
        </p:txBody>
      </p:sp>
      <p:sp>
        <p:nvSpPr>
          <p:cNvPr id="25" name="Shape 23"/>
          <p:cNvSpPr/>
          <p:nvPr/>
        </p:nvSpPr>
        <p:spPr>
          <a:xfrm>
            <a:off x="5474305" y="3639312"/>
            <a:ext cx="2977121" cy="164504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5632704" y="3785616"/>
            <a:ext cx="411480" cy="265176"/>
          </a:xfrm>
          <a:prstGeom prst="roundRect">
            <a:avLst>
              <a:gd name="adj" fmla="val 41379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5724144" y="38039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5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632704" y="41422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2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 risk</a:t>
            </a:r>
            <a:endParaRPr lang="en-US" sz="1420"/>
          </a:p>
        </p:txBody>
      </p:sp>
      <p:sp>
        <p:nvSpPr>
          <p:cNvPr id="29" name="Text 27"/>
          <p:cNvSpPr/>
          <p:nvPr/>
        </p:nvSpPr>
        <p:spPr>
          <a:xfrm>
            <a:off x="5608514" y="4471997"/>
            <a:ext cx="2620505" cy="502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171450" indent="-171450">
              <a:buFont typeface="Arial"/>
              <a:buChar char="•"/>
            </a:pPr>
            <a:r>
              <a:rPr lang="en-US" sz="1000">
                <a:solidFill>
                  <a:srgbClr val="5C7284"/>
                </a:solidFill>
                <a:ea typeface="+mn-lt"/>
                <a:cs typeface="+mn-lt"/>
              </a:rPr>
              <a:t>Monthly FMD / LSD outbreak-risk forecasts per district, from climate, season and outbreak history.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>
                <a:solidFill>
                  <a:srgbClr val="5C7284"/>
                </a:solidFill>
                <a:ea typeface="+mn-lt"/>
                <a:cs typeface="+mn-lt"/>
              </a:rPr>
              <a:t>Each forecast comes with an uncertainty range and is approved by a veterinarian before it is issued.</a:t>
            </a:r>
            <a:endParaRPr lang="en-US">
              <a:ea typeface="Inter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04501" y="3639312"/>
            <a:ext cx="2952931" cy="164504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8723376" y="3785616"/>
            <a:ext cx="411480" cy="265176"/>
          </a:xfrm>
          <a:prstGeom prst="roundRect">
            <a:avLst>
              <a:gd name="adj" fmla="val 41379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8814816" y="38039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5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8723376" y="41422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2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Geospatial analysis</a:t>
            </a:r>
            <a:endParaRPr lang="en-US" sz="1420"/>
          </a:p>
        </p:txBody>
      </p:sp>
      <p:sp>
        <p:nvSpPr>
          <p:cNvPr id="34" name="Text 32"/>
          <p:cNvSpPr/>
          <p:nvPr/>
        </p:nvSpPr>
        <p:spPr>
          <a:xfrm>
            <a:off x="8723376" y="4544568"/>
            <a:ext cx="2523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25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Confirmed-case mapping and historical spatial ranking.</a:t>
            </a:r>
            <a:endParaRPr lang="en-US" sz="1025"/>
          </a:p>
        </p:txBody>
      </p:sp>
      <p:sp>
        <p:nvSpPr>
          <p:cNvPr id="35" name="Shape 33"/>
          <p:cNvSpPr/>
          <p:nvPr/>
        </p:nvSpPr>
        <p:spPr>
          <a:xfrm>
            <a:off x="5477256" y="5504688"/>
            <a:ext cx="5980176" cy="338328"/>
          </a:xfrm>
          <a:prstGeom prst="roundRect">
            <a:avLst>
              <a:gd name="adj" fmla="val 27027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5596128" y="5559552"/>
            <a:ext cx="5779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5" b="1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EXCELLENCE  •  One platform, four evidence streams, veterinarian in the loop</a:t>
            </a:r>
            <a:endParaRPr lang="en-US" sz="95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098B91"/>
          </a:solidFill>
          <a:ln w="12700">
            <a:solidFill>
              <a:srgbClr val="098B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12064" y="182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R26-SE-013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543800" y="182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65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SLIIT  /  SOFTWARE ENGINEERING  /  FINAL VIVA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12064" y="64922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COMPONENT · 01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12064" y="941832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Health Anomaly &amp; BCS Triage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21208" y="1453896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4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W.M.P.J. Wijenayake  •  IT22194558</a:t>
            </a:r>
            <a:endParaRPr lang="en-US" sz="1140"/>
          </a:p>
        </p:txBody>
      </p:sp>
      <p:sp>
        <p:nvSpPr>
          <p:cNvPr id="8" name="Shape 6"/>
          <p:cNvSpPr/>
          <p:nvPr/>
        </p:nvSpPr>
        <p:spPr>
          <a:xfrm>
            <a:off x="512064" y="6345936"/>
            <a:ext cx="11128248" cy="0"/>
          </a:xfrm>
          <a:prstGeom prst="line">
            <a:avLst/>
          </a:prstGeom>
          <a:noFill/>
          <a:ln w="1016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21208" y="6419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System for Real-Time Farm Animal Disease Reporting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0725912" y="6396228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07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521208" y="1929384"/>
            <a:ext cx="6565392" cy="3547872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2" name="Image 0" descr="/mnt/data/presentation_assets/wellness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942" y="2039112"/>
            <a:ext cx="4871923" cy="30449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6656" y="5129784"/>
            <a:ext cx="6291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kern="0" spc="6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WELLNESS TRIAGE RESULT</a:t>
            </a:r>
            <a:endParaRPr lang="en-US" sz="850"/>
          </a:p>
        </p:txBody>
      </p:sp>
      <p:sp>
        <p:nvSpPr>
          <p:cNvPr id="15" name="Shape 12"/>
          <p:cNvSpPr/>
          <p:nvPr/>
        </p:nvSpPr>
        <p:spPr>
          <a:xfrm>
            <a:off x="7278624" y="1929384"/>
            <a:ext cx="4361688" cy="112471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7443216" y="2075688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kern="0" spc="4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TRIGGER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7443216" y="2304288"/>
            <a:ext cx="4032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health trends</a:t>
            </a:r>
            <a:endParaRPr lang="en-US" sz="1450"/>
          </a:p>
        </p:txBody>
      </p:sp>
      <p:sp>
        <p:nvSpPr>
          <p:cNvPr id="18" name="Text 15"/>
          <p:cNvSpPr/>
          <p:nvPr/>
        </p:nvSpPr>
        <p:spPr>
          <a:xfrm>
            <a:off x="7443216" y="2752344"/>
            <a:ext cx="4032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4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monitoring flags deviations from milk-yield and body-weight logs.</a:t>
            </a:r>
            <a:endParaRPr lang="en-US" sz="940"/>
          </a:p>
        </p:txBody>
      </p:sp>
      <p:sp>
        <p:nvSpPr>
          <p:cNvPr id="19" name="Shape 16"/>
          <p:cNvSpPr/>
          <p:nvPr/>
        </p:nvSpPr>
        <p:spPr>
          <a:xfrm>
            <a:off x="7278624" y="3163824"/>
            <a:ext cx="4361688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7"/>
          <p:cNvSpPr/>
          <p:nvPr/>
        </p:nvSpPr>
        <p:spPr>
          <a:xfrm>
            <a:off x="7443216" y="3310128"/>
            <a:ext cx="4032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kern="0" spc="4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ASSESSMENT</a:t>
            </a:r>
            <a:endParaRPr lang="en-US" sz="900"/>
          </a:p>
        </p:txBody>
      </p:sp>
      <p:sp>
        <p:nvSpPr>
          <p:cNvPr id="21" name="Text 18"/>
          <p:cNvSpPr/>
          <p:nvPr/>
        </p:nvSpPr>
        <p:spPr>
          <a:xfrm>
            <a:off x="7443216" y="3538728"/>
            <a:ext cx="4032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2D BCS + 7-day signals</a:t>
            </a:r>
            <a:endParaRPr lang="en-US" sz="1450"/>
          </a:p>
        </p:txBody>
      </p:sp>
      <p:sp>
        <p:nvSpPr>
          <p:cNvPr id="22" name="Text 19"/>
          <p:cNvSpPr/>
          <p:nvPr/>
        </p:nvSpPr>
        <p:spPr>
          <a:xfrm>
            <a:off x="7443216" y="3986784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YOLOv8s → CNN BCS; LSTM late fusion incorporates history, genetics and thermal stress.</a:t>
            </a:r>
            <a:endParaRPr lang="en-US" sz="950"/>
          </a:p>
        </p:txBody>
      </p:sp>
      <p:sp>
        <p:nvSpPr>
          <p:cNvPr id="23" name="Shape 20"/>
          <p:cNvSpPr/>
          <p:nvPr/>
        </p:nvSpPr>
        <p:spPr>
          <a:xfrm>
            <a:off x="7278624" y="4544568"/>
            <a:ext cx="4361688" cy="941832"/>
          </a:xfrm>
          <a:prstGeom prst="roundRect">
            <a:avLst>
              <a:gd name="adj" fmla="val 11650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1"/>
          <p:cNvSpPr/>
          <p:nvPr/>
        </p:nvSpPr>
        <p:spPr>
          <a:xfrm>
            <a:off x="7415784" y="4654296"/>
            <a:ext cx="4087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>
                <a:solidFill>
                  <a:srgbClr val="098B91"/>
                </a:solidFill>
                <a:latin typeface="Inter"/>
                <a:ea typeface="Inter"/>
                <a:cs typeface="Inter" pitchFamily="34" charset="-120"/>
              </a:rPr>
              <a:t>95.80%</a:t>
            </a:r>
            <a:endParaRPr lang="en-US" sz="2200">
              <a:latin typeface="Inter"/>
              <a:ea typeface="Inter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15784" y="5138928"/>
            <a:ext cx="4087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82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Persistent-monitoring test accuracy on engineered scenarios.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21208" y="5614416"/>
            <a:ext cx="11119104" cy="420624"/>
          </a:xfrm>
          <a:prstGeom prst="roundRect">
            <a:avLst>
              <a:gd name="adj" fmla="val 21739"/>
            </a:avLst>
          </a:prstGeom>
          <a:solidFill>
            <a:srgbClr val="EBF2F8"/>
          </a:solidFill>
          <a:ln w="12700">
            <a:solidFill>
              <a:srgbClr val="EBF2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4"/>
          <p:cNvSpPr/>
          <p:nvPr/>
        </p:nvSpPr>
        <p:spPr>
          <a:xfrm>
            <a:off x="694944" y="570585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contribution  ·  Low-cost, on-demand triage with explainable 2D BCS and thermal context</a:t>
            </a:r>
            <a:endParaRPr lang="en-US" sz="103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098B91"/>
          </a:solidFill>
          <a:ln w="12700">
            <a:solidFill>
              <a:srgbClr val="098B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12064" y="182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R26-SE-013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543800" y="182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65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SLIIT  /  SOFTWARE ENGINEERING  /  FINAL VIVA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12064" y="64922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COMPONENT · 02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12064" y="941832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Smart Diagnosis — image evidence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21208" y="1373685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4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A.L.M. Athulathmudali  •  IT21129544</a:t>
            </a:r>
            <a:endParaRPr lang="en-US" sz="1140"/>
          </a:p>
        </p:txBody>
      </p:sp>
      <p:sp>
        <p:nvSpPr>
          <p:cNvPr id="8" name="Shape 6"/>
          <p:cNvSpPr/>
          <p:nvPr/>
        </p:nvSpPr>
        <p:spPr>
          <a:xfrm>
            <a:off x="512064" y="6345936"/>
            <a:ext cx="11128248" cy="0"/>
          </a:xfrm>
          <a:prstGeom prst="line">
            <a:avLst/>
          </a:prstGeom>
          <a:noFill/>
          <a:ln w="1016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21208" y="6419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System for Real-Time Farm Animal Disease Reporting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0725912" y="6396228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07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521208" y="1938528"/>
            <a:ext cx="6556248" cy="3593592"/>
          </a:xfrm>
          <a:prstGeom prst="roundRect">
            <a:avLst>
              <a:gd name="adj" fmla="val 4071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676656" y="5184648"/>
            <a:ext cx="6281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50" b="1" kern="0" spc="60">
                <a:solidFill>
                  <a:srgbClr val="098B91"/>
                </a:solidFill>
                <a:latin typeface="Inter"/>
                <a:ea typeface="Inter"/>
              </a:rPr>
              <a:t>MODEL OUTPUT FOR A SAMPLE IMAGE</a:t>
            </a:r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278624" y="1929384"/>
            <a:ext cx="436168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3"/>
          <p:cNvSpPr/>
          <p:nvPr/>
        </p:nvSpPr>
        <p:spPr>
          <a:xfrm>
            <a:off x="7415784" y="2112264"/>
            <a:ext cx="411480" cy="265176"/>
          </a:xfrm>
          <a:prstGeom prst="roundRect">
            <a:avLst>
              <a:gd name="adj" fmla="val 41379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7507224" y="21305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kern="0" spc="5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/>
          </a:p>
        </p:txBody>
      </p:sp>
      <p:sp>
        <p:nvSpPr>
          <p:cNvPr id="18" name="Text 15"/>
          <p:cNvSpPr/>
          <p:nvPr/>
        </p:nvSpPr>
        <p:spPr>
          <a:xfrm>
            <a:off x="7946136" y="20299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YOLOv8s</a:t>
            </a:r>
            <a:endParaRPr lang="en-US" sz="1250"/>
          </a:p>
        </p:txBody>
      </p:sp>
      <p:sp>
        <p:nvSpPr>
          <p:cNvPr id="19" name="Text 16"/>
          <p:cNvSpPr/>
          <p:nvPr/>
        </p:nvSpPr>
        <p:spPr>
          <a:xfrm>
            <a:off x="7946136" y="2267712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2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/ disease-related localisation</a:t>
            </a:r>
            <a:endParaRPr lang="en-US" sz="920"/>
          </a:p>
        </p:txBody>
      </p:sp>
      <p:sp>
        <p:nvSpPr>
          <p:cNvPr id="20" name="Shape 17"/>
          <p:cNvSpPr/>
          <p:nvPr/>
        </p:nvSpPr>
        <p:spPr>
          <a:xfrm>
            <a:off x="7278624" y="2642616"/>
            <a:ext cx="436168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8"/>
          <p:cNvSpPr/>
          <p:nvPr/>
        </p:nvSpPr>
        <p:spPr>
          <a:xfrm>
            <a:off x="7415784" y="2825496"/>
            <a:ext cx="411480" cy="265176"/>
          </a:xfrm>
          <a:prstGeom prst="roundRect">
            <a:avLst>
              <a:gd name="adj" fmla="val 41379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7507224" y="284378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kern="0" spc="5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/>
          </a:p>
        </p:txBody>
      </p:sp>
      <p:sp>
        <p:nvSpPr>
          <p:cNvPr id="23" name="Text 20"/>
          <p:cNvSpPr/>
          <p:nvPr/>
        </p:nvSpPr>
        <p:spPr>
          <a:xfrm>
            <a:off x="7946136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ViT-B/16</a:t>
            </a:r>
            <a:endParaRPr lang="en-US" sz="1250"/>
          </a:p>
        </p:txBody>
      </p:sp>
      <p:sp>
        <p:nvSpPr>
          <p:cNvPr id="24" name="Text 21"/>
          <p:cNvSpPr/>
          <p:nvPr/>
        </p:nvSpPr>
        <p:spPr>
          <a:xfrm>
            <a:off x="7946136" y="2980944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2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Four-class candidate classification</a:t>
            </a:r>
            <a:endParaRPr lang="en-US" sz="920"/>
          </a:p>
        </p:txBody>
      </p:sp>
      <p:sp>
        <p:nvSpPr>
          <p:cNvPr id="25" name="Shape 22"/>
          <p:cNvSpPr/>
          <p:nvPr/>
        </p:nvSpPr>
        <p:spPr>
          <a:xfrm>
            <a:off x="7278624" y="3355848"/>
            <a:ext cx="436168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3"/>
          <p:cNvSpPr/>
          <p:nvPr/>
        </p:nvSpPr>
        <p:spPr>
          <a:xfrm>
            <a:off x="7415784" y="3538728"/>
            <a:ext cx="411480" cy="265176"/>
          </a:xfrm>
          <a:prstGeom prst="roundRect">
            <a:avLst>
              <a:gd name="adj" fmla="val 41379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4"/>
          <p:cNvSpPr/>
          <p:nvPr/>
        </p:nvSpPr>
        <p:spPr>
          <a:xfrm>
            <a:off x="7507224" y="355701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 kern="0" spc="5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/>
          </a:p>
        </p:txBody>
      </p:sp>
      <p:sp>
        <p:nvSpPr>
          <p:cNvPr id="28" name="Text 25"/>
          <p:cNvSpPr/>
          <p:nvPr/>
        </p:nvSpPr>
        <p:spPr>
          <a:xfrm>
            <a:off x="7946136" y="3456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ResNet50</a:t>
            </a:r>
            <a:endParaRPr lang="en-US" sz="1250"/>
          </a:p>
        </p:txBody>
      </p:sp>
      <p:sp>
        <p:nvSpPr>
          <p:cNvPr id="29" name="Text 26"/>
          <p:cNvSpPr/>
          <p:nvPr/>
        </p:nvSpPr>
        <p:spPr>
          <a:xfrm>
            <a:off x="7946136" y="3694176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2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lesion-mask segmentation</a:t>
            </a:r>
            <a:endParaRPr lang="en-US" sz="920"/>
          </a:p>
        </p:txBody>
      </p:sp>
      <p:sp>
        <p:nvSpPr>
          <p:cNvPr id="30" name="Shape 27"/>
          <p:cNvSpPr/>
          <p:nvPr/>
        </p:nvSpPr>
        <p:spPr>
          <a:xfrm>
            <a:off x="7278624" y="4197096"/>
            <a:ext cx="2139696" cy="1271016"/>
          </a:xfrm>
          <a:prstGeom prst="roundRect">
            <a:avLst>
              <a:gd name="adj" fmla="val 8633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8"/>
          <p:cNvSpPr/>
          <p:nvPr/>
        </p:nvSpPr>
        <p:spPr>
          <a:xfrm>
            <a:off x="7415784" y="430682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300" b="1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90.11%</a:t>
            </a:r>
            <a:endParaRPr lang="en-US" sz="2300"/>
          </a:p>
        </p:txBody>
      </p:sp>
      <p:sp>
        <p:nvSpPr>
          <p:cNvPr id="32" name="Text 29"/>
          <p:cNvSpPr/>
          <p:nvPr/>
        </p:nvSpPr>
        <p:spPr>
          <a:xfrm>
            <a:off x="7415784" y="4791456"/>
            <a:ext cx="18653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182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ViT-B/16 held-out test classification accuracy</a:t>
            </a:r>
            <a:endParaRPr lang="en-US" sz="950"/>
          </a:p>
        </p:txBody>
      </p:sp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B650F8-CA4D-7F2A-489E-462B7D82C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02" y="1738441"/>
            <a:ext cx="6551342" cy="33693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4">
            <a:extLst>
              <a:ext uri="{FF2B5EF4-FFF2-40B4-BE49-F238E27FC236}">
                <a16:creationId xmlns:a16="http://schemas.microsoft.com/office/drawing/2014/main" id="{87294B03-F9C9-DE0F-9774-F2F624E20EAB}"/>
              </a:ext>
            </a:extLst>
          </p:cNvPr>
          <p:cNvSpPr/>
          <p:nvPr/>
        </p:nvSpPr>
        <p:spPr>
          <a:xfrm>
            <a:off x="7258436" y="4775490"/>
            <a:ext cx="2103120" cy="1115568"/>
          </a:xfrm>
          <a:prstGeom prst="roundRect">
            <a:avLst>
              <a:gd name="adj" fmla="val 983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09113" y="1902243"/>
            <a:ext cx="6568343" cy="4288922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098B91"/>
          </a:solidFill>
          <a:ln w="12700">
            <a:solidFill>
              <a:srgbClr val="098B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12064" y="182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R26-SE-013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543800" y="182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65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SLIIT  /  SOFTWARE ENGINEERING  /  FINAL VIVA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12064" y="64922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COMPONENT · 03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12064" y="941832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b="1">
                <a:solidFill>
                  <a:srgbClr val="112A43"/>
                </a:solidFill>
                <a:ea typeface="+mn-lt"/>
                <a:cs typeface="+mn-lt"/>
              </a:rPr>
              <a:t>Climate-informed monthly outbreak-risk forecasting</a:t>
            </a: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453896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4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S.S. Kumarasinghe  •  IT22221414</a:t>
            </a:r>
            <a:endParaRPr lang="en-US" sz="1140"/>
          </a:p>
        </p:txBody>
      </p:sp>
      <p:sp>
        <p:nvSpPr>
          <p:cNvPr id="8" name="Shape 6"/>
          <p:cNvSpPr/>
          <p:nvPr/>
        </p:nvSpPr>
        <p:spPr>
          <a:xfrm>
            <a:off x="512064" y="6345936"/>
            <a:ext cx="11128248" cy="0"/>
          </a:xfrm>
          <a:prstGeom prst="line">
            <a:avLst/>
          </a:prstGeom>
          <a:noFill/>
          <a:ln w="1016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21208" y="6419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System for Real-Time Farm Animal Disease Reporting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0725912" y="6396228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07</a:t>
            </a:r>
            <a:endParaRPr lang="en-US" sz="900"/>
          </a:p>
        </p:txBody>
      </p:sp>
      <p:sp>
        <p:nvSpPr>
          <p:cNvPr id="17" name="Shape 14"/>
          <p:cNvSpPr/>
          <p:nvPr/>
        </p:nvSpPr>
        <p:spPr>
          <a:xfrm>
            <a:off x="7269480" y="3505490"/>
            <a:ext cx="2103120" cy="1115568"/>
          </a:xfrm>
          <a:prstGeom prst="roundRect">
            <a:avLst>
              <a:gd name="adj" fmla="val 9836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7384554" y="5347764"/>
            <a:ext cx="1983408" cy="541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>
                <a:solidFill>
                  <a:srgbClr val="182C3B"/>
                </a:solidFill>
                <a:latin typeface="Inter"/>
                <a:ea typeface="Inter"/>
                <a:cs typeface="Inter" pitchFamily="34" charset="-120"/>
              </a:rPr>
              <a:t>LSD test ROC-AUC · back-test 2023–2024</a:t>
            </a:r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518904" y="3505490"/>
            <a:ext cx="2121408" cy="1115568"/>
          </a:xfrm>
          <a:prstGeom prst="roundRect">
            <a:avLst>
              <a:gd name="adj" fmla="val 9836"/>
            </a:avLst>
          </a:prstGeom>
          <a:solidFill>
            <a:srgbClr val="EBF2F8"/>
          </a:solidFill>
          <a:ln w="12700">
            <a:solidFill>
              <a:srgbClr val="EBF2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8"/>
          <p:cNvSpPr/>
          <p:nvPr/>
        </p:nvSpPr>
        <p:spPr>
          <a:xfrm>
            <a:off x="9799629" y="3736696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>
                <a:solidFill>
                  <a:srgbClr val="246BA0"/>
                </a:solidFill>
                <a:ea typeface="+mn-lt"/>
                <a:cs typeface="+mn-lt"/>
              </a:rPr>
              <a:t>0.302</a:t>
            </a:r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656064" y="4166111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>
                <a:solidFill>
                  <a:srgbClr val="182C3B"/>
                </a:solidFill>
                <a:latin typeface="Inter"/>
                <a:ea typeface="Inter"/>
                <a:cs typeface="Inter" pitchFamily="34" charset="-120"/>
              </a:rPr>
              <a:t>FMD test PR-AUC · seasonal average 0.196</a:t>
            </a:r>
            <a:endParaRPr lang="en-US" sz="1050">
              <a:ea typeface="Inter"/>
            </a:endParaRPr>
          </a:p>
        </p:txBody>
      </p:sp>
      <p:pic>
        <p:nvPicPr>
          <p:cNvPr id="30" name="Picture 29" descr="A diagram of a diagram of water and soil&#10;&#10;AI-generated content may be incorrect.">
            <a:extLst>
              <a:ext uri="{FF2B5EF4-FFF2-40B4-BE49-F238E27FC236}">
                <a16:creationId xmlns:a16="http://schemas.microsoft.com/office/drawing/2014/main" id="{69A908E1-16EF-9728-7EE4-BFFA740A5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610" y="1512589"/>
            <a:ext cx="5609260" cy="1991718"/>
          </a:xfrm>
          <a:prstGeom prst="rect">
            <a:avLst/>
          </a:prstGeom>
        </p:spPr>
      </p:pic>
      <p:sp>
        <p:nvSpPr>
          <p:cNvPr id="33" name="Text 15">
            <a:extLst>
              <a:ext uri="{FF2B5EF4-FFF2-40B4-BE49-F238E27FC236}">
                <a16:creationId xmlns:a16="http://schemas.microsoft.com/office/drawing/2014/main" id="{4F7DD304-A124-87D5-F216-27DABE3C7197}"/>
              </a:ext>
            </a:extLst>
          </p:cNvPr>
          <p:cNvSpPr/>
          <p:nvPr/>
        </p:nvSpPr>
        <p:spPr>
          <a:xfrm>
            <a:off x="7550205" y="3758783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>
                <a:solidFill>
                  <a:srgbClr val="098B91"/>
                </a:solidFill>
                <a:ea typeface="+mn-lt"/>
                <a:cs typeface="+mn-lt"/>
              </a:rPr>
              <a:t>0.724</a:t>
            </a:r>
            <a:endParaRPr lang="en-US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59C766ED-A764-88DF-8FED-AAADBD712EB4}"/>
              </a:ext>
            </a:extLst>
          </p:cNvPr>
          <p:cNvSpPr/>
          <p:nvPr/>
        </p:nvSpPr>
        <p:spPr>
          <a:xfrm>
            <a:off x="9533392" y="4775490"/>
            <a:ext cx="2103120" cy="1115568"/>
          </a:xfrm>
          <a:prstGeom prst="roundRect">
            <a:avLst>
              <a:gd name="adj" fmla="val 983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70859575-7A4E-84B8-5CA4-D7714CE01176}"/>
              </a:ext>
            </a:extLst>
          </p:cNvPr>
          <p:cNvSpPr/>
          <p:nvPr/>
        </p:nvSpPr>
        <p:spPr>
          <a:xfrm>
            <a:off x="7539162" y="4929391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>
                <a:solidFill>
                  <a:srgbClr val="098B91"/>
                </a:solidFill>
                <a:ea typeface="+mn-lt"/>
                <a:cs typeface="+mn-lt"/>
              </a:rPr>
              <a:t>0.647</a:t>
            </a:r>
            <a:endParaRPr lang="en-US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AC80B3BE-F3DC-BA36-C3A7-C463D1DC9FA5}"/>
              </a:ext>
            </a:extLst>
          </p:cNvPr>
          <p:cNvSpPr/>
          <p:nvPr/>
        </p:nvSpPr>
        <p:spPr>
          <a:xfrm>
            <a:off x="9626379" y="538089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>
                <a:solidFill>
                  <a:srgbClr val="182C3B"/>
                </a:solidFill>
                <a:latin typeface="Inter"/>
                <a:ea typeface="Inter"/>
                <a:cs typeface="Inter" pitchFamily="34" charset="-120"/>
              </a:rPr>
              <a:t>LSD test PR-AUC · seasonal average 0.094</a:t>
            </a:r>
            <a:endParaRPr lang="en-US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D08ECD92-7A05-133A-3DAB-4151D933035E}"/>
              </a:ext>
            </a:extLst>
          </p:cNvPr>
          <p:cNvSpPr/>
          <p:nvPr/>
        </p:nvSpPr>
        <p:spPr>
          <a:xfrm>
            <a:off x="7384553" y="4177154"/>
            <a:ext cx="1983408" cy="453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>
                <a:solidFill>
                  <a:srgbClr val="182C3B"/>
                </a:solidFill>
                <a:latin typeface="Inter"/>
                <a:ea typeface="Inter"/>
                <a:cs typeface="Inter" pitchFamily="34" charset="-120"/>
              </a:rPr>
              <a:t>FMD test ROC-AUC · back-test 2022–2023</a:t>
            </a:r>
            <a:endParaRPr lang="en-US" sz="1050">
              <a:ea typeface="Inter"/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5490EC3F-1252-68FD-0C6C-58C3CA0F48B8}"/>
              </a:ext>
            </a:extLst>
          </p:cNvPr>
          <p:cNvSpPr/>
          <p:nvPr/>
        </p:nvSpPr>
        <p:spPr>
          <a:xfrm>
            <a:off x="9814118" y="4929391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>
                <a:solidFill>
                  <a:srgbClr val="098B91"/>
                </a:solidFill>
                <a:ea typeface="+mn-lt"/>
                <a:cs typeface="+mn-lt"/>
              </a:rPr>
              <a:t>0.246</a:t>
            </a:r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485BCBF-66D0-E4CA-7D96-4907B3863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66" y="1972050"/>
            <a:ext cx="5356335" cy="41839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32A57C1-92CF-68DB-B4CB-4A5D3F8F436B}"/>
              </a:ext>
            </a:extLst>
          </p:cNvPr>
          <p:cNvSpPr txBox="1"/>
          <p:nvPr/>
        </p:nvSpPr>
        <p:spPr>
          <a:xfrm>
            <a:off x="522108" y="5923486"/>
            <a:ext cx="7606823" cy="30777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>
                <a:solidFill>
                  <a:srgbClr val="000000"/>
                </a:solidFill>
                <a:latin typeface="Inter"/>
                <a:ea typeface="Inter"/>
              </a:rPr>
              <a:t>FMD / LSD ROC and precision-recall curves (back-test, held-out months)</a:t>
            </a:r>
            <a:endParaRPr lang="en-US" sz="1400">
              <a:ea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098B91"/>
          </a:solidFill>
          <a:ln w="12700">
            <a:solidFill>
              <a:srgbClr val="098B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12064" y="182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R26-SE-013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543800" y="182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65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SLIIT  /  SOFTWARE ENGINEERING  /  FINAL VIVA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12064" y="64922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COMPONENT · 04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12064" y="941832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Geospatial clustering &amp; trajectory mapping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21208" y="1453896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4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G.A. Sandaru  •  IT22258908</a:t>
            </a:r>
            <a:endParaRPr lang="en-US" sz="1140"/>
          </a:p>
        </p:txBody>
      </p:sp>
      <p:sp>
        <p:nvSpPr>
          <p:cNvPr id="8" name="Shape 6"/>
          <p:cNvSpPr/>
          <p:nvPr/>
        </p:nvSpPr>
        <p:spPr>
          <a:xfrm>
            <a:off x="512064" y="6345936"/>
            <a:ext cx="11128248" cy="0"/>
          </a:xfrm>
          <a:prstGeom prst="line">
            <a:avLst/>
          </a:prstGeom>
          <a:noFill/>
          <a:ln w="1016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21208" y="6419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System for Real-Time Farm Animal Disease Reporting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0725912" y="6396228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07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521208" y="1929384"/>
            <a:ext cx="6556248" cy="3621024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2" name="Image 0" descr="/mnt/data/presentation_assets/geo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436" y="2039112"/>
            <a:ext cx="5335793" cy="31181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6656" y="5202936"/>
            <a:ext cx="6281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b="1" kern="0" spc="6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MY AREA MAP &amp; OUTLOOK</a:t>
            </a:r>
            <a:endParaRPr lang="en-US" sz="850"/>
          </a:p>
        </p:txBody>
      </p:sp>
      <p:sp>
        <p:nvSpPr>
          <p:cNvPr id="15" name="Shape 12"/>
          <p:cNvSpPr/>
          <p:nvPr/>
        </p:nvSpPr>
        <p:spPr>
          <a:xfrm>
            <a:off x="7269480" y="1920240"/>
            <a:ext cx="4370832" cy="1197864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7434072" y="2066544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kern="0" spc="4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BASELINE</a:t>
            </a:r>
            <a:endParaRPr lang="en-US" sz="900"/>
          </a:p>
        </p:txBody>
      </p:sp>
      <p:sp>
        <p:nvSpPr>
          <p:cNvPr id="17" name="Text 14"/>
          <p:cNvSpPr/>
          <p:nvPr/>
        </p:nvSpPr>
        <p:spPr>
          <a:xfrm>
            <a:off x="7434072" y="229514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1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km spatial cells</a:t>
            </a:r>
            <a:endParaRPr lang="en-US" sz="1410"/>
          </a:p>
        </p:txBody>
      </p:sp>
      <p:sp>
        <p:nvSpPr>
          <p:cNvPr id="18" name="Text 15"/>
          <p:cNvSpPr/>
          <p:nvPr/>
        </p:nvSpPr>
        <p:spPr>
          <a:xfrm>
            <a:off x="7434072" y="274320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3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Source-aware historical LSD events are ranked using a frozen exponential distance kernel.</a:t>
            </a:r>
            <a:endParaRPr lang="en-US" sz="930"/>
          </a:p>
        </p:txBody>
      </p:sp>
      <p:sp>
        <p:nvSpPr>
          <p:cNvPr id="19" name="Shape 16"/>
          <p:cNvSpPr/>
          <p:nvPr/>
        </p:nvSpPr>
        <p:spPr>
          <a:xfrm>
            <a:off x="7269480" y="3282696"/>
            <a:ext cx="4370832" cy="1161288"/>
          </a:xfrm>
          <a:prstGeom prst="roundRect">
            <a:avLst>
              <a:gd name="adj" fmla="val 9449"/>
            </a:avLst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7"/>
          <p:cNvSpPr/>
          <p:nvPr/>
        </p:nvSpPr>
        <p:spPr>
          <a:xfrm>
            <a:off x="7406640" y="3392424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73.85</a:t>
            </a:r>
            <a:endParaRPr lang="en-US" sz="2400"/>
          </a:p>
        </p:txBody>
      </p:sp>
      <p:sp>
        <p:nvSpPr>
          <p:cNvPr id="21" name="Text 18"/>
          <p:cNvSpPr/>
          <p:nvPr/>
        </p:nvSpPr>
        <p:spPr>
          <a:xfrm>
            <a:off x="7406640" y="3877056"/>
            <a:ext cx="4096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rgbClr val="182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Held-out area-weighted target percentile; limited to 25 km evaluation scope.</a:t>
            </a:r>
            <a:endParaRPr lang="en-US" sz="900"/>
          </a:p>
        </p:txBody>
      </p:sp>
      <p:sp>
        <p:nvSpPr>
          <p:cNvPr id="22" name="Shape 19"/>
          <p:cNvSpPr/>
          <p:nvPr/>
        </p:nvSpPr>
        <p:spPr>
          <a:xfrm>
            <a:off x="7269480" y="4572000"/>
            <a:ext cx="4370832" cy="969264"/>
          </a:xfrm>
          <a:prstGeom prst="roundRect">
            <a:avLst>
              <a:gd name="adj" fmla="val 11321"/>
            </a:avLst>
          </a:prstGeom>
          <a:solidFill>
            <a:srgbClr val="FFF5DE"/>
          </a:solidFill>
          <a:ln w="12700">
            <a:solidFill>
              <a:srgbClr val="FFF5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0"/>
          <p:cNvSpPr/>
          <p:nvPr/>
        </p:nvSpPr>
        <p:spPr>
          <a:xfrm>
            <a:off x="7434072" y="470001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40" b="1" kern="0" spc="70">
                <a:solidFill>
                  <a:srgbClr val="8658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INTERPRETATION</a:t>
            </a:r>
            <a:endParaRPr lang="en-US" sz="940"/>
          </a:p>
        </p:txBody>
      </p:sp>
      <p:sp>
        <p:nvSpPr>
          <p:cNvPr id="24" name="Text 21"/>
          <p:cNvSpPr/>
          <p:nvPr/>
        </p:nvSpPr>
        <p:spPr>
          <a:xfrm>
            <a:off x="7434072" y="497433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50">
                <a:solidFill>
                  <a:srgbClr val="182C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D1–D7 evaluated retrospectively; 14-day UI is illustrative, not day-wise validated incidence.</a:t>
            </a:r>
            <a:endParaRPr lang="en-US" sz="950"/>
          </a:p>
        </p:txBody>
      </p:sp>
      <p:sp>
        <p:nvSpPr>
          <p:cNvPr id="25" name="Shape 22"/>
          <p:cNvSpPr/>
          <p:nvPr/>
        </p:nvSpPr>
        <p:spPr>
          <a:xfrm>
            <a:off x="521208" y="5641848"/>
            <a:ext cx="11119104" cy="365760"/>
          </a:xfrm>
          <a:prstGeom prst="roundRect">
            <a:avLst>
              <a:gd name="adj" fmla="val 22500"/>
            </a:avLst>
          </a:prstGeom>
          <a:solidFill>
            <a:srgbClr val="EBF2F8"/>
          </a:solidFill>
          <a:ln w="12700">
            <a:solidFill>
              <a:srgbClr val="EBF2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3"/>
          <p:cNvSpPr/>
          <p:nvPr/>
        </p:nvSpPr>
        <p:spPr>
          <a:xfrm>
            <a:off x="704088" y="571500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8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evidence  ·  323 / 588 held-out targets in 25 km scope   •   zero geometric invariant failures on 560,853 cells</a:t>
            </a:r>
            <a:endParaRPr lang="en-US" sz="98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7724"/>
          </a:xfrm>
          <a:prstGeom prst="rect">
            <a:avLst/>
          </a:prstGeom>
          <a:solidFill>
            <a:srgbClr val="098B91"/>
          </a:solidFill>
          <a:ln w="12700">
            <a:solidFill>
              <a:srgbClr val="098B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12064" y="182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R26-SE-013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7543800" y="182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65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SLIIT  /  SOFTWARE ENGINEERING  /  FINAL VIVA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512064" y="649224"/>
            <a:ext cx="9692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13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CONSOLIDATED RESULTS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12064" y="941832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Results, expert review &amp; next steps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21208" y="1453896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4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evidence is separated from clinical acceptance and operational deployment.</a:t>
            </a:r>
            <a:endParaRPr lang="en-US" sz="1140"/>
          </a:p>
        </p:txBody>
      </p:sp>
      <p:sp>
        <p:nvSpPr>
          <p:cNvPr id="8" name="Shape 6"/>
          <p:cNvSpPr/>
          <p:nvPr/>
        </p:nvSpPr>
        <p:spPr>
          <a:xfrm>
            <a:off x="512064" y="6345936"/>
            <a:ext cx="11128248" cy="0"/>
          </a:xfrm>
          <a:prstGeom prst="line">
            <a:avLst/>
          </a:prstGeom>
          <a:noFill/>
          <a:ln w="1016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21208" y="641908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System for Real-Time Farm Animal Disease Reporting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0725912" y="6396228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07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521208" y="1947672"/>
            <a:ext cx="2633472" cy="1444752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67512" y="2121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b="1" kern="0" spc="55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</a:t>
            </a:r>
            <a:endParaRPr lang="en-US" sz="920"/>
          </a:p>
        </p:txBody>
      </p:sp>
      <p:sp>
        <p:nvSpPr>
          <p:cNvPr id="13" name="Text 11"/>
          <p:cNvSpPr/>
          <p:nvPr/>
        </p:nvSpPr>
        <p:spPr>
          <a:xfrm>
            <a:off x="667512" y="247802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500" b="1">
                <a:solidFill>
                  <a:srgbClr val="112A43"/>
                </a:solidFill>
                <a:latin typeface="Inter"/>
                <a:ea typeface="Inter"/>
                <a:cs typeface="Inter" pitchFamily="34" charset="-120"/>
              </a:rPr>
              <a:t>95.80%</a:t>
            </a:r>
            <a:endParaRPr lang="en-US" sz="2500">
              <a:latin typeface="Inter"/>
              <a:ea typeface="Inter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7512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1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 test · engineered trend scenarios</a:t>
            </a:r>
            <a:endParaRPr lang="en-US" sz="910"/>
          </a:p>
        </p:txBody>
      </p:sp>
      <p:sp>
        <p:nvSpPr>
          <p:cNvPr id="15" name="Shape 13"/>
          <p:cNvSpPr/>
          <p:nvPr/>
        </p:nvSpPr>
        <p:spPr>
          <a:xfrm>
            <a:off x="3346704" y="1947672"/>
            <a:ext cx="2633472" cy="1444752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493008" y="2121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b="1" kern="0" spc="55">
                <a:solidFill>
                  <a:srgbClr val="246B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DIAGNOSIS</a:t>
            </a:r>
            <a:endParaRPr lang="en-US" sz="920"/>
          </a:p>
        </p:txBody>
      </p:sp>
      <p:sp>
        <p:nvSpPr>
          <p:cNvPr id="17" name="Text 15"/>
          <p:cNvSpPr/>
          <p:nvPr/>
        </p:nvSpPr>
        <p:spPr>
          <a:xfrm>
            <a:off x="3493008" y="247802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5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90.11%</a:t>
            </a:r>
            <a:endParaRPr lang="en-US" sz="2500"/>
          </a:p>
        </p:txBody>
      </p:sp>
      <p:sp>
        <p:nvSpPr>
          <p:cNvPr id="18" name="Text 16"/>
          <p:cNvSpPr/>
          <p:nvPr/>
        </p:nvSpPr>
        <p:spPr>
          <a:xfrm>
            <a:off x="3493008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1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 held-out classification test</a:t>
            </a:r>
            <a:endParaRPr lang="en-US" sz="910"/>
          </a:p>
        </p:txBody>
      </p:sp>
      <p:sp>
        <p:nvSpPr>
          <p:cNvPr id="19" name="Shape 17"/>
          <p:cNvSpPr/>
          <p:nvPr/>
        </p:nvSpPr>
        <p:spPr>
          <a:xfrm>
            <a:off x="6181344" y="1947672"/>
            <a:ext cx="2633472" cy="1444752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327648" y="2121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kern="0" spc="55">
                <a:solidFill>
                  <a:srgbClr val="098B91"/>
                </a:solidFill>
                <a:ea typeface="+mn-lt"/>
                <a:cs typeface="+mn-lt"/>
              </a:rPr>
              <a:t>RISK FORECASTING</a:t>
            </a: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27648" y="247802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12A43"/>
                </a:solidFill>
                <a:ea typeface="+mn-lt"/>
                <a:cs typeface="+mn-lt"/>
              </a:rPr>
              <a:t>0.724 (FMD) &amp; 0.647 (LSD)</a:t>
            </a:r>
            <a:endParaRPr lang="en-US" sz="2000">
              <a:ea typeface="Inter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27648" y="3111291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00">
                <a:solidFill>
                  <a:srgbClr val="5C7284"/>
                </a:solidFill>
                <a:ea typeface="+mn-lt"/>
                <a:cs typeface="+mn-lt"/>
              </a:rPr>
              <a:t>FMD / LSD ROC-AUC/ back-test on unseen months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006840" y="1947672"/>
            <a:ext cx="2633472" cy="1444752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9153144" y="2121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b="1" kern="0" spc="55">
                <a:solidFill>
                  <a:srgbClr val="246B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GEOSPATIAL</a:t>
            </a:r>
            <a:endParaRPr lang="en-US" sz="920"/>
          </a:p>
        </p:txBody>
      </p:sp>
      <p:sp>
        <p:nvSpPr>
          <p:cNvPr id="25" name="Text 23"/>
          <p:cNvSpPr/>
          <p:nvPr/>
        </p:nvSpPr>
        <p:spPr>
          <a:xfrm>
            <a:off x="9153144" y="247802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500" b="1">
                <a:solidFill>
                  <a:srgbClr val="11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73.85</a:t>
            </a:r>
            <a:endParaRPr lang="en-US" sz="2500"/>
          </a:p>
        </p:txBody>
      </p:sp>
      <p:sp>
        <p:nvSpPr>
          <p:cNvPr id="26" name="Text 24"/>
          <p:cNvSpPr/>
          <p:nvPr/>
        </p:nvSpPr>
        <p:spPr>
          <a:xfrm>
            <a:off x="9153144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910">
                <a:solidFill>
                  <a:srgbClr val="5C72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LSD held-out area-weighted percentile · 25 km scope</a:t>
            </a:r>
            <a:endParaRPr lang="en-US" sz="910"/>
          </a:p>
        </p:txBody>
      </p:sp>
      <p:sp>
        <p:nvSpPr>
          <p:cNvPr id="27" name="Shape 25"/>
          <p:cNvSpPr/>
          <p:nvPr/>
        </p:nvSpPr>
        <p:spPr>
          <a:xfrm>
            <a:off x="521208" y="3584448"/>
            <a:ext cx="5422392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731520" y="3822192"/>
            <a:ext cx="4910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80">
                <a:solidFill>
                  <a:srgbClr val="098B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REVIEW / ACCEPTANCE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731520" y="4242816"/>
            <a:ext cx="4809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b="1">
                <a:solidFill>
                  <a:srgbClr val="112A43"/>
                </a:solidFill>
                <a:ea typeface="+mn-lt"/>
                <a:cs typeface="+mn-lt"/>
              </a:rPr>
              <a:t>Expert review evidence</a:t>
            </a:r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5492" y="4712747"/>
            <a:ext cx="4685852" cy="123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ea typeface="+mn-lt"/>
                <a:cs typeface="+mn-lt"/>
              </a:rPr>
              <a:t>A veterinary expert (Dr. T. Karunarathna, Senior Lecturer, University of </a:t>
            </a:r>
            <a:r>
              <a:rPr lang="en-US" sz="1200">
                <a:ea typeface="+mn-lt"/>
                <a:cs typeface="+mn-lt"/>
              </a:rPr>
              <a:t>Peradeniya) reviewed all four components and regarded the project as "A </a:t>
            </a:r>
            <a:r>
              <a:rPr lang="en-US" sz="1200" dirty="0">
                <a:ea typeface="+mn-lt"/>
                <a:cs typeface="+mn-lt"/>
              </a:rPr>
              <a:t>promising contribution to livestock health monitoring". The tools are valuable as supporting information alongside examination, animal history and professional judgement, not as substitutes for a veterinarian.</a:t>
            </a:r>
            <a:endParaRPr lang="en-US" sz="1200">
              <a:ea typeface="Inter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26480" y="3584448"/>
            <a:ext cx="5504688" cy="2377440"/>
          </a:xfrm>
          <a:prstGeom prst="roundRect">
            <a:avLst>
              <a:gd name="adj" fmla="val 6154"/>
            </a:avLst>
          </a:prstGeom>
          <a:solidFill>
            <a:srgbClr val="112A43"/>
          </a:solidFill>
          <a:ln w="12700">
            <a:solidFill>
              <a:srgbClr val="11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6364224" y="38130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80">
                <a:solidFill>
                  <a:srgbClr val="7BC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 →  FUTURE WORK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6419088" y="4233672"/>
            <a:ext cx="82296" cy="82296"/>
          </a:xfrm>
          <a:prstGeom prst="roundRect">
            <a:avLst>
              <a:gd name="adj" fmla="val 22222"/>
            </a:avLst>
          </a:prstGeom>
          <a:solidFill>
            <a:srgbClr val="63C7C5"/>
          </a:solidFill>
          <a:ln w="12700">
            <a:solidFill>
              <a:srgbClr val="63C7C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6611112" y="4142232"/>
            <a:ext cx="4617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1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Prospective local field tests and independent expert ratings</a:t>
            </a:r>
            <a:endParaRPr lang="en-US" sz="1010"/>
          </a:p>
        </p:txBody>
      </p:sp>
      <p:sp>
        <p:nvSpPr>
          <p:cNvPr id="35" name="Shape 33"/>
          <p:cNvSpPr/>
          <p:nvPr/>
        </p:nvSpPr>
        <p:spPr>
          <a:xfrm>
            <a:off x="6419088" y="4626864"/>
            <a:ext cx="82296" cy="82296"/>
          </a:xfrm>
          <a:prstGeom prst="roundRect">
            <a:avLst>
              <a:gd name="adj" fmla="val 22222"/>
            </a:avLst>
          </a:prstGeom>
          <a:solidFill>
            <a:srgbClr val="63C7C5"/>
          </a:solidFill>
          <a:ln w="12700">
            <a:solidFill>
              <a:srgbClr val="63C7C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6611112" y="4535424"/>
            <a:ext cx="4617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1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Class-wise diagnosis metrics, calibration and buffalo validation</a:t>
            </a:r>
            <a:endParaRPr lang="en-US" sz="1010"/>
          </a:p>
        </p:txBody>
      </p:sp>
      <p:sp>
        <p:nvSpPr>
          <p:cNvPr id="37" name="Shape 35"/>
          <p:cNvSpPr/>
          <p:nvPr/>
        </p:nvSpPr>
        <p:spPr>
          <a:xfrm>
            <a:off x="6419088" y="5020056"/>
            <a:ext cx="82296" cy="82296"/>
          </a:xfrm>
          <a:prstGeom prst="roundRect">
            <a:avLst>
              <a:gd name="adj" fmla="val 22222"/>
            </a:avLst>
          </a:prstGeom>
          <a:solidFill>
            <a:srgbClr val="63C7C5"/>
          </a:solidFill>
          <a:ln w="12700">
            <a:solidFill>
              <a:srgbClr val="63C7C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6611112" y="4928616"/>
            <a:ext cx="4617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Score stored forecasts against real outbreaks. Extend verified FMD labels beyond 2023</a:t>
            </a:r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19088" y="5413248"/>
            <a:ext cx="82296" cy="82296"/>
          </a:xfrm>
          <a:prstGeom prst="roundRect">
            <a:avLst>
              <a:gd name="adj" fmla="val 22222"/>
            </a:avLst>
          </a:prstGeom>
          <a:solidFill>
            <a:srgbClr val="63C7C5"/>
          </a:solidFill>
          <a:ln w="12700">
            <a:solidFill>
              <a:srgbClr val="63C7C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6611112" y="5321808"/>
            <a:ext cx="4617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1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API resilience and geospatial source verification</a:t>
            </a:r>
            <a:endParaRPr lang="en-US" sz="101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1946</Words>
  <Application>Microsoft Office PowerPoint</Application>
  <PresentationFormat>Widescreen</PresentationFormat>
  <Paragraphs>174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Sri Lanka Institute of Information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R26-SE-013 | Final Research Viva</dc:title>
  <dc:subject>SLIIT Final Research Viva</dc:subject>
  <dc:creator>R26-SE-013 Research Group</dc:creator>
  <cp:lastModifiedBy>Lasitha Athulathmudali</cp:lastModifiedBy>
  <cp:revision>193</cp:revision>
  <dcterms:created xsi:type="dcterms:W3CDTF">2026-10-18T10:49:53Z</dcterms:created>
  <dcterms:modified xsi:type="dcterms:W3CDTF">2026-10-20T03:45:51Z</dcterms:modified>
</cp:coreProperties>
</file>