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72" r:id="rId4"/>
    <p:sldId id="273" r:id="rId5"/>
    <p:sldId id="274" r:id="rId6"/>
    <p:sldId id="262" r:id="rId7"/>
    <p:sldId id="265" r:id="rId8"/>
    <p:sldId id="277" r:id="rId9"/>
    <p:sldId id="278" r:id="rId10"/>
    <p:sldId id="279" r:id="rId11"/>
    <p:sldId id="280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875994-4A78-D9C3-76E6-281F4CB8A59B}" v="176" dt="2026-08-31T18:48:41.046"/>
    <p1510:client id="{5D07203F-DDE4-1758-129D-1E1C91B31D89}" v="28" dt="2026-08-31T17:09:48.323"/>
    <p1510:client id="{720BEFEC-1D35-D013-D49B-64CD2BE5AD1C}" v="58" dt="2026-08-31T10:54:05.114"/>
    <p1510:client id="{78D0FF3C-3C63-6D4D-C54A-05E6EF75EE6C}" v="1" dt="2026-08-31T11:38:25.188"/>
    <p1510:client id="{C4F6B8FF-987F-363C-CC74-7C693F0F1249}" v="8" dt="2026-08-31T12:44:13.272"/>
    <p1510:client id="{D8E15411-9A87-7C69-586B-5AE1691241EF}" v="1" dt="2026-09-01T04:20:05.404"/>
    <p1510:client id="{DBE3E110-4DB2-1087-AA13-DCBCB4154EDD}" v="35" dt="2026-08-31T11:01:40.188"/>
    <p1510:client id="{FEDE1CFB-C9BD-8081-BE43-484B27233993}" v="40" dt="2026-08-31T06:14:27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68300-0E45-49A9-B1CD-A4CF4354C086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B7C82-961F-41C7-A9D8-3300D616CD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9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38BE-4D52-E1C1-6FA2-753CFA09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0739E-5524-144C-2164-59C09CDE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56035-8E0C-C9C2-7A9C-FDB169AF5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2FDBA-B5F8-93C3-C7FD-FA8E571F1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74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sv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5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49622" y="455935"/>
            <a:ext cx="61912" cy="61912"/>
          </a:xfrm>
          <a:prstGeom prst="ellipse">
            <a:avLst/>
          </a:prstGeom>
          <a:solidFill>
            <a:srgbClr val="D5B67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1"/>
          <p:cNvSpPr/>
          <p:nvPr/>
        </p:nvSpPr>
        <p:spPr>
          <a:xfrm>
            <a:off x="703957" y="416198"/>
            <a:ext cx="30960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ANIMAL DISEASE REPORTING SYSTEM</a:t>
            </a:r>
            <a:endParaRPr lang="en-US" sz="790"/>
          </a:p>
        </p:txBody>
      </p:sp>
      <p:sp>
        <p:nvSpPr>
          <p:cNvPr id="8" name="Text 2"/>
          <p:cNvSpPr/>
          <p:nvPr/>
        </p:nvSpPr>
        <p:spPr>
          <a:xfrm>
            <a:off x="548580" y="1185863"/>
            <a:ext cx="5657523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80" kern="0" spc="-17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 Multi-Stage Artificial</a:t>
            </a:r>
            <a:endParaRPr lang="en-US" sz="3780"/>
          </a:p>
        </p:txBody>
      </p:sp>
      <p:sp>
        <p:nvSpPr>
          <p:cNvPr id="9" name="Text 3"/>
          <p:cNvSpPr/>
          <p:nvPr/>
        </p:nvSpPr>
        <p:spPr>
          <a:xfrm>
            <a:off x="548580" y="1651471"/>
            <a:ext cx="5996300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80" kern="0" spc="-17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Intelligence Framework</a:t>
            </a:r>
            <a:endParaRPr lang="en-US" sz="3780"/>
          </a:p>
        </p:txBody>
      </p:sp>
      <p:sp>
        <p:nvSpPr>
          <p:cNvPr id="10" name="Text 4"/>
          <p:cNvSpPr/>
          <p:nvPr/>
        </p:nvSpPr>
        <p:spPr>
          <a:xfrm>
            <a:off x="548580" y="2117080"/>
            <a:ext cx="5744877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80" kern="0" spc="-17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for Proactive Livestock</a:t>
            </a:r>
            <a:endParaRPr lang="en-US" sz="3780"/>
          </a:p>
        </p:txBody>
      </p:sp>
      <p:sp>
        <p:nvSpPr>
          <p:cNvPr id="11" name="Text 5"/>
          <p:cNvSpPr/>
          <p:nvPr/>
        </p:nvSpPr>
        <p:spPr>
          <a:xfrm>
            <a:off x="548580" y="2582689"/>
            <a:ext cx="5656845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80" kern="0" spc="-17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Health Monitoring and</a:t>
            </a:r>
            <a:endParaRPr lang="en-US" sz="3780"/>
          </a:p>
        </p:txBody>
      </p:sp>
      <p:sp>
        <p:nvSpPr>
          <p:cNvPr id="12" name="Text 6"/>
          <p:cNvSpPr/>
          <p:nvPr/>
        </p:nvSpPr>
        <p:spPr>
          <a:xfrm>
            <a:off x="548580" y="3048298"/>
            <a:ext cx="5646881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80" kern="0" spc="-17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Outbreak Surveillance</a:t>
            </a:r>
            <a:endParaRPr lang="en-US" sz="3780"/>
          </a:p>
        </p:txBody>
      </p:sp>
      <p:sp>
        <p:nvSpPr>
          <p:cNvPr id="13" name="Shape 7"/>
          <p:cNvSpPr/>
          <p:nvPr/>
        </p:nvSpPr>
        <p:spPr>
          <a:xfrm>
            <a:off x="549027" y="3794633"/>
            <a:ext cx="1004887" cy="9525"/>
          </a:xfrm>
          <a:prstGeom prst="rect">
            <a:avLst/>
          </a:prstGeom>
          <a:solidFill>
            <a:srgbClr val="D5B67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5"/>
          <p:cNvSpPr/>
          <p:nvPr/>
        </p:nvSpPr>
        <p:spPr>
          <a:xfrm>
            <a:off x="7647116" y="4370040"/>
            <a:ext cx="94830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kern="0" spc="108">
                <a:solidFill>
                  <a:srgbClr val="91A9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ID</a:t>
            </a:r>
            <a:endParaRPr lang="en-US" sz="720"/>
          </a:p>
        </p:txBody>
      </p:sp>
      <p:sp>
        <p:nvSpPr>
          <p:cNvPr id="22" name="Text 16"/>
          <p:cNvSpPr/>
          <p:nvPr/>
        </p:nvSpPr>
        <p:spPr>
          <a:xfrm>
            <a:off x="7468925" y="4548262"/>
            <a:ext cx="112649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324"/>
              </a:spcBef>
              <a:buNone/>
            </a:pPr>
            <a:r>
              <a:rPr lang="en-US" sz="700" kern="0" spc="108">
                <a:solidFill>
                  <a:srgbClr val="D5B67F"/>
                </a:solidFill>
                <a:latin typeface="IBM Plex Mono"/>
              </a:rPr>
              <a:t>[R26-SE-013]</a:t>
            </a:r>
            <a:endParaRPr lang="en-US" sz="700">
              <a:latin typeface="IBM Plex Mono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48580" y="4783113"/>
            <a:ext cx="22099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DEFENSE</a:t>
            </a:r>
            <a:endParaRPr lang="en-US" sz="760"/>
          </a:p>
        </p:txBody>
      </p:sp>
      <p:sp>
        <p:nvSpPr>
          <p:cNvPr id="24" name="Text 18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12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E164-E060-73B6-0E6D-5D3B76DE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8DAF22A-589E-DFC6-79C0-AFAF7450F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C0E3493-70E3-2746-D64F-2B82C83D6DEE}"/>
              </a:ext>
            </a:extLst>
          </p:cNvPr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25E2F08-4578-9DB5-E3D3-D8DBB7531689}"/>
              </a:ext>
            </a:extLst>
          </p:cNvPr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EC19F534-0CEA-DFD5-4285-88DBCE5EB71B}"/>
              </a:ext>
            </a:extLst>
          </p:cNvPr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97CC9AC6-3573-9E14-3AB3-B809D78C28B7}"/>
              </a:ext>
            </a:extLst>
          </p:cNvPr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760" dirty="0"/>
          </a:p>
        </p:txBody>
      </p:sp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92EF686B-4C16-3A23-E980-D1296295A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3819302"/>
            <a:ext cx="8048625" cy="604837"/>
          </a:xfrm>
          <a:prstGeom prst="rect">
            <a:avLst/>
          </a:prstGeom>
        </p:spPr>
      </p:pic>
      <p:pic>
        <p:nvPicPr>
          <p:cNvPr id="37" name="Stopping_Livestock_Outbreaks_With_AI">
            <a:hlinkClick r:id="" action="ppaction://media"/>
            <a:extLst>
              <a:ext uri="{FF2B5EF4-FFF2-40B4-BE49-F238E27FC236}">
                <a16:creationId xmlns:a16="http://schemas.microsoft.com/office/drawing/2014/main" id="{3FAB8A2F-B9EA-ABA7-5EAE-F193315194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63337" y="0"/>
            <a:ext cx="36687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5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129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3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416198"/>
            <a:ext cx="123358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PROBLEM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58478"/>
            <a:ext cx="8430138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Problem, stakeholders &amp; measurable pain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8878" y="1543459"/>
            <a:ext cx="1928813" cy="1714500"/>
          </a:xfrm>
          <a:prstGeom prst="rect">
            <a:avLst/>
          </a:prstGeom>
          <a:solidFill>
            <a:srgbClr val="EBE4D7"/>
          </a:solidFill>
          <a:ln w="4763">
            <a:solidFill>
              <a:srgbClr val="144A3C">
                <a:alpha val="14902"/>
              </a:srgbClr>
            </a:solidFill>
            <a:prstDash val="solid"/>
          </a:ln>
          <a:effectLst>
            <a:outerShdw blurRad="274320" dist="109728" dir="5400000" algn="bl" rotWithShape="0">
              <a:srgbClr val="163028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88" y="1684958"/>
            <a:ext cx="292596" cy="2925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98936" y="1767408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20"/>
          </a:p>
        </p:txBody>
      </p:sp>
      <p:sp>
        <p:nvSpPr>
          <p:cNvPr id="10" name="Text 6"/>
          <p:cNvSpPr/>
          <p:nvPr/>
        </p:nvSpPr>
        <p:spPr>
          <a:xfrm>
            <a:off x="690488" y="2085156"/>
            <a:ext cx="19200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680" kern="0" spc="103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FARMERS / SMALLHOLDERS</a:t>
            </a:r>
            <a:endParaRPr lang="en-US" sz="680"/>
          </a:p>
        </p:txBody>
      </p:sp>
      <p:sp>
        <p:nvSpPr>
          <p:cNvPr id="11" name="Text 7"/>
          <p:cNvSpPr/>
          <p:nvPr/>
        </p:nvSpPr>
        <p:spPr>
          <a:xfrm>
            <a:off x="690488" y="2271564"/>
            <a:ext cx="146188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6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Access &amp; triage</a:t>
            </a:r>
            <a:endParaRPr lang="en-US" sz="1260"/>
          </a:p>
        </p:txBody>
      </p:sp>
      <p:sp>
        <p:nvSpPr>
          <p:cNvPr id="12" name="Text 8"/>
          <p:cNvSpPr/>
          <p:nvPr/>
        </p:nvSpPr>
        <p:spPr>
          <a:xfrm>
            <a:off x="690488" y="2563713"/>
            <a:ext cx="2076658" cy="54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1.65M families face reactive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reporting; LSD averages 32% milk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loss and Rs. 21,212 loss per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animal.</a:t>
            </a:r>
            <a:endParaRPr lang="en-US" sz="810"/>
          </a:p>
        </p:txBody>
      </p:sp>
      <p:sp>
        <p:nvSpPr>
          <p:cNvPr id="13" name="Shape 9"/>
          <p:cNvSpPr/>
          <p:nvPr/>
        </p:nvSpPr>
        <p:spPr>
          <a:xfrm>
            <a:off x="2588009" y="1543459"/>
            <a:ext cx="1928813" cy="1714500"/>
          </a:xfrm>
          <a:prstGeom prst="rect">
            <a:avLst/>
          </a:prstGeom>
          <a:solidFill>
            <a:srgbClr val="E6EEEB"/>
          </a:solidFill>
          <a:ln w="4763">
            <a:solidFill>
              <a:srgbClr val="144A3C">
                <a:alpha val="14902"/>
              </a:srgbClr>
            </a:solidFill>
            <a:prstDash val="solid"/>
          </a:ln>
          <a:effectLst>
            <a:outerShdw blurRad="274320" dist="109728" dir="5400000" algn="bl" rotWithShape="0">
              <a:srgbClr val="163028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582" y="1684958"/>
            <a:ext cx="292596" cy="2925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38104" y="1767408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20"/>
          </a:p>
        </p:txBody>
      </p:sp>
      <p:sp>
        <p:nvSpPr>
          <p:cNvPr id="16" name="Text 11"/>
          <p:cNvSpPr/>
          <p:nvPr/>
        </p:nvSpPr>
        <p:spPr>
          <a:xfrm>
            <a:off x="2729582" y="2085156"/>
            <a:ext cx="18353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680" kern="0" spc="103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VETS / FIELD OFFICERS</a:t>
            </a:r>
            <a:endParaRPr lang="en-US" sz="680"/>
          </a:p>
        </p:txBody>
      </p:sp>
      <p:sp>
        <p:nvSpPr>
          <p:cNvPr id="17" name="Text 12"/>
          <p:cNvSpPr/>
          <p:nvPr/>
        </p:nvSpPr>
        <p:spPr>
          <a:xfrm>
            <a:off x="2729582" y="2271564"/>
            <a:ext cx="204444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6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Gating &amp; comorbidity</a:t>
            </a:r>
            <a:endParaRPr lang="en-US" sz="1260"/>
          </a:p>
        </p:txBody>
      </p:sp>
      <p:sp>
        <p:nvSpPr>
          <p:cNvPr id="18" name="Text 13"/>
          <p:cNvSpPr/>
          <p:nvPr/>
        </p:nvSpPr>
        <p:spPr>
          <a:xfrm>
            <a:off x="2729582" y="2563713"/>
            <a:ext cx="1890147" cy="40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 &gt; 72 can mimic disease;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subclinical mastitis prevalence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reaches 74.5–100%.</a:t>
            </a:r>
            <a:endParaRPr lang="en-US" sz="810"/>
          </a:p>
        </p:txBody>
      </p:sp>
      <p:sp>
        <p:nvSpPr>
          <p:cNvPr id="19" name="Shape 14"/>
          <p:cNvSpPr/>
          <p:nvPr/>
        </p:nvSpPr>
        <p:spPr>
          <a:xfrm>
            <a:off x="4627141" y="1543459"/>
            <a:ext cx="1928813" cy="1714500"/>
          </a:xfrm>
          <a:prstGeom prst="rect">
            <a:avLst/>
          </a:prstGeom>
          <a:solidFill>
            <a:srgbClr val="EADFCA"/>
          </a:solidFill>
          <a:ln w="4763">
            <a:solidFill>
              <a:srgbClr val="144A3C">
                <a:alpha val="14902"/>
              </a:srgbClr>
            </a:solidFill>
            <a:prstDash val="solid"/>
          </a:ln>
          <a:effectLst>
            <a:outerShdw blurRad="274320" dist="109728" dir="5400000" algn="bl" rotWithShape="0">
              <a:srgbClr val="163028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751" y="1684958"/>
            <a:ext cx="292596" cy="292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7198" y="1767408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20"/>
          </a:p>
        </p:txBody>
      </p:sp>
      <p:sp>
        <p:nvSpPr>
          <p:cNvPr id="22" name="Text 16"/>
          <p:cNvSpPr/>
          <p:nvPr/>
        </p:nvSpPr>
        <p:spPr>
          <a:xfrm>
            <a:off x="4768751" y="2085156"/>
            <a:ext cx="18353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680" kern="0" spc="103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DAPH / DISTRICT TEAMS</a:t>
            </a:r>
            <a:endParaRPr lang="en-US" sz="680"/>
          </a:p>
        </p:txBody>
      </p:sp>
      <p:sp>
        <p:nvSpPr>
          <p:cNvPr id="23" name="Text 17"/>
          <p:cNvSpPr/>
          <p:nvPr/>
        </p:nvSpPr>
        <p:spPr>
          <a:xfrm>
            <a:off x="4768751" y="2271564"/>
            <a:ext cx="141371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6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Spatial latency</a:t>
            </a:r>
            <a:endParaRPr lang="en-US" sz="1260"/>
          </a:p>
        </p:txBody>
      </p:sp>
      <p:sp>
        <p:nvSpPr>
          <p:cNvPr id="24" name="Text 18"/>
          <p:cNvSpPr/>
          <p:nvPr/>
        </p:nvSpPr>
        <p:spPr>
          <a:xfrm>
            <a:off x="4768751" y="2563713"/>
            <a:ext cx="2195743" cy="40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Retrospective reports miss dynamic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clusters and spread vectors before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is coordinated.</a:t>
            </a:r>
            <a:endParaRPr lang="en-US" sz="810"/>
          </a:p>
        </p:txBody>
      </p:sp>
      <p:sp>
        <p:nvSpPr>
          <p:cNvPr id="25" name="Shape 19"/>
          <p:cNvSpPr/>
          <p:nvPr/>
        </p:nvSpPr>
        <p:spPr>
          <a:xfrm>
            <a:off x="6666272" y="1543459"/>
            <a:ext cx="1928813" cy="1714500"/>
          </a:xfrm>
          <a:prstGeom prst="rect">
            <a:avLst/>
          </a:prstGeom>
          <a:solidFill>
            <a:srgbClr val="DFE9E1"/>
          </a:solidFill>
          <a:ln w="4763">
            <a:solidFill>
              <a:srgbClr val="144A3C">
                <a:alpha val="14902"/>
              </a:srgbClr>
            </a:solidFill>
            <a:prstDash val="solid"/>
          </a:ln>
          <a:effectLst>
            <a:outerShdw blurRad="274320" dist="109728" dir="5400000" algn="bl" rotWithShape="0">
              <a:srgbClr val="163028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845" y="1684958"/>
            <a:ext cx="292596" cy="2925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16367" y="1767408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20"/>
          </a:p>
        </p:txBody>
      </p:sp>
      <p:sp>
        <p:nvSpPr>
          <p:cNvPr id="28" name="Text 21"/>
          <p:cNvSpPr/>
          <p:nvPr/>
        </p:nvSpPr>
        <p:spPr>
          <a:xfrm>
            <a:off x="6807845" y="2085156"/>
            <a:ext cx="14967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680" kern="0" spc="103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NATIONAL PLANNERS</a:t>
            </a:r>
            <a:endParaRPr lang="en-US" sz="680"/>
          </a:p>
        </p:txBody>
      </p:sp>
      <p:sp>
        <p:nvSpPr>
          <p:cNvPr id="29" name="Text 22"/>
          <p:cNvSpPr/>
          <p:nvPr/>
        </p:nvSpPr>
        <p:spPr>
          <a:xfrm>
            <a:off x="6807845" y="2271564"/>
            <a:ext cx="176545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26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Sparse macro data</a:t>
            </a:r>
            <a:endParaRPr lang="en-US" sz="1260"/>
          </a:p>
        </p:txBody>
      </p:sp>
      <p:sp>
        <p:nvSpPr>
          <p:cNvPr id="30" name="Text 23"/>
          <p:cNvSpPr/>
          <p:nvPr/>
        </p:nvSpPr>
        <p:spPr>
          <a:xfrm>
            <a:off x="6807845" y="2563713"/>
            <a:ext cx="2073079" cy="409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Zero-heavy DAPH grids contain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12.75% FMD and 7.67% LSD</a:t>
            </a:r>
            <a:endParaRPr lang="en-US" sz="810"/>
          </a:p>
          <a:p>
            <a:pPr marL="0" indent="0" algn="l">
              <a:lnSpc>
                <a:spcPts val="1088"/>
              </a:lnSpc>
              <a:buNone/>
            </a:pPr>
            <a:r>
              <a:rPr lang="en-US" sz="81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positive district-months.</a:t>
            </a:r>
            <a:endParaRPr lang="en-US" sz="810"/>
          </a:p>
        </p:txBody>
      </p:sp>
      <p:sp>
        <p:nvSpPr>
          <p:cNvPr id="31" name="Shape 24"/>
          <p:cNvSpPr/>
          <p:nvPr/>
        </p:nvSpPr>
        <p:spPr>
          <a:xfrm>
            <a:off x="547688" y="3819302"/>
            <a:ext cx="8048625" cy="604837"/>
          </a:xfrm>
          <a:prstGeom prst="rect">
            <a:avLst/>
          </a:prstGeom>
          <a:solidFill>
            <a:srgbClr val="174B3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25"/>
          <p:cNvSpPr/>
          <p:nvPr/>
        </p:nvSpPr>
        <p:spPr>
          <a:xfrm>
            <a:off x="759991" y="3928318"/>
            <a:ext cx="973533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>
                <a:solidFill>
                  <a:srgbClr val="F4F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statement: no affordable, shared evidence chain currently moves from farmer signal to clinical action,</a:t>
            </a:r>
            <a:endParaRPr lang="en-US" sz="1190"/>
          </a:p>
        </p:txBody>
      </p:sp>
      <p:sp>
        <p:nvSpPr>
          <p:cNvPr id="33" name="Text 26"/>
          <p:cNvSpPr/>
          <p:nvPr/>
        </p:nvSpPr>
        <p:spPr>
          <a:xfrm>
            <a:off x="759991" y="4116958"/>
            <a:ext cx="366481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>
                <a:solidFill>
                  <a:srgbClr val="F4F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mapped trajectory, and district response.</a:t>
            </a:r>
            <a:endParaRPr lang="en-US" sz="1190"/>
          </a:p>
        </p:txBody>
      </p:sp>
      <p:sp>
        <p:nvSpPr>
          <p:cNvPr id="34" name="Text 27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5" name="Text 28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76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88" y="3819302"/>
            <a:ext cx="8048625" cy="6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0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416198"/>
            <a:ext cx="8414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GAP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58478"/>
            <a:ext cx="8241402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From isolated tools to one evidence chain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8804" y="1492634"/>
            <a:ext cx="3419475" cy="2009775"/>
          </a:xfrm>
          <a:prstGeom prst="rect">
            <a:avLst/>
          </a:prstGeom>
          <a:solidFill>
            <a:srgbClr val="E6EE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13110" y="1670372"/>
            <a:ext cx="26044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Existing approaches</a:t>
            </a:r>
            <a:endParaRPr lang="en-US" sz="1730"/>
          </a:p>
        </p:txBody>
      </p:sp>
      <p:sp>
        <p:nvSpPr>
          <p:cNvPr id="9" name="Shape 6"/>
          <p:cNvSpPr/>
          <p:nvPr/>
        </p:nvSpPr>
        <p:spPr>
          <a:xfrm>
            <a:off x="2971354" y="1727783"/>
            <a:ext cx="833437" cy="185738"/>
          </a:xfrm>
          <a:prstGeom prst="roundRect">
            <a:avLst>
              <a:gd name="adj" fmla="val 50000"/>
            </a:avLst>
          </a:prstGeom>
          <a:solidFill>
            <a:srgbClr val="DFE5D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3045321" y="1756842"/>
            <a:ext cx="94830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5364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FRAGMENTED</a:t>
            </a:r>
            <a:endParaRPr lang="en-US" sz="720"/>
          </a:p>
        </p:txBody>
      </p:sp>
      <p:sp>
        <p:nvSpPr>
          <p:cNvPr id="11" name="Text 8"/>
          <p:cNvSpPr/>
          <p:nvPr/>
        </p:nvSpPr>
        <p:spPr>
          <a:xfrm>
            <a:off x="713110" y="2149004"/>
            <a:ext cx="21227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Industrial PLF and 3D sensing</a:t>
            </a:r>
            <a:endParaRPr lang="en-US" sz="940"/>
          </a:p>
        </p:txBody>
      </p:sp>
      <p:sp>
        <p:nvSpPr>
          <p:cNvPr id="12" name="Text 9"/>
          <p:cNvSpPr/>
          <p:nvPr/>
        </p:nvSpPr>
        <p:spPr>
          <a:xfrm>
            <a:off x="713110" y="2404318"/>
            <a:ext cx="2274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Closed-world single-label vision</a:t>
            </a:r>
            <a:endParaRPr lang="en-US" sz="940"/>
          </a:p>
        </p:txBody>
      </p:sp>
      <p:sp>
        <p:nvSpPr>
          <p:cNvPr id="13" name="Text 10"/>
          <p:cNvSpPr/>
          <p:nvPr/>
        </p:nvSpPr>
        <p:spPr>
          <a:xfrm>
            <a:off x="713110" y="2659633"/>
            <a:ext cx="2071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lesion or disease maps</a:t>
            </a:r>
            <a:endParaRPr lang="en-US" sz="940"/>
          </a:p>
        </p:txBody>
      </p:sp>
      <p:sp>
        <p:nvSpPr>
          <p:cNvPr id="14" name="Text 11"/>
          <p:cNvSpPr/>
          <p:nvPr/>
        </p:nvSpPr>
        <p:spPr>
          <a:xfrm>
            <a:off x="713110" y="2914948"/>
            <a:ext cx="258298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Retrospective administrative reports</a:t>
            </a:r>
            <a:endParaRPr lang="en-US" sz="940"/>
          </a:p>
        </p:txBody>
      </p:sp>
      <p:sp>
        <p:nvSpPr>
          <p:cNvPr id="15" name="Text 12"/>
          <p:cNvSpPr/>
          <p:nvPr/>
        </p:nvSpPr>
        <p:spPr>
          <a:xfrm>
            <a:off x="713110" y="3170262"/>
            <a:ext cx="24046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Black-box, zero-heavy forecasting</a:t>
            </a:r>
            <a:endParaRPr lang="en-US" sz="940"/>
          </a:p>
        </p:txBody>
      </p:sp>
      <p:sp>
        <p:nvSpPr>
          <p:cNvPr id="16" name="Shape 13"/>
          <p:cNvSpPr/>
          <p:nvPr/>
        </p:nvSpPr>
        <p:spPr>
          <a:xfrm>
            <a:off x="4197102" y="2268885"/>
            <a:ext cx="457200" cy="457200"/>
          </a:xfrm>
          <a:prstGeom prst="ellipse">
            <a:avLst/>
          </a:prstGeom>
          <a:ln w="4763">
            <a:solidFill>
              <a:srgbClr val="A16F3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4371156" y="2349847"/>
            <a:ext cx="1989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A16F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1800"/>
          </a:p>
        </p:txBody>
      </p:sp>
      <p:sp>
        <p:nvSpPr>
          <p:cNvPr id="18" name="Text 15"/>
          <p:cNvSpPr/>
          <p:nvPr/>
        </p:nvSpPr>
        <p:spPr>
          <a:xfrm>
            <a:off x="4654302" y="2377455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>
                <a:solidFill>
                  <a:srgbClr val="A16F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40"/>
          </a:p>
        </p:txBody>
      </p:sp>
      <p:sp>
        <p:nvSpPr>
          <p:cNvPr id="19" name="Shape 16"/>
          <p:cNvSpPr/>
          <p:nvPr/>
        </p:nvSpPr>
        <p:spPr>
          <a:xfrm>
            <a:off x="5175721" y="1492634"/>
            <a:ext cx="3419475" cy="2009775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5340028" y="1670372"/>
            <a:ext cx="195205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ADRS response</a:t>
            </a:r>
            <a:endParaRPr lang="en-US" sz="1730"/>
          </a:p>
        </p:txBody>
      </p:sp>
      <p:sp>
        <p:nvSpPr>
          <p:cNvPr id="21" name="Shape 18"/>
          <p:cNvSpPr/>
          <p:nvPr/>
        </p:nvSpPr>
        <p:spPr>
          <a:xfrm>
            <a:off x="7598271" y="1727783"/>
            <a:ext cx="833437" cy="185738"/>
          </a:xfrm>
          <a:prstGeom prst="roundRect">
            <a:avLst>
              <a:gd name="adj" fmla="val 50000"/>
            </a:avLst>
          </a:prstGeom>
          <a:solidFill>
            <a:srgbClr val="EADBC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7672239" y="1756842"/>
            <a:ext cx="94830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FOUR TIERS</a:t>
            </a:r>
            <a:endParaRPr lang="en-US" sz="720"/>
          </a:p>
        </p:txBody>
      </p:sp>
      <p:sp>
        <p:nvSpPr>
          <p:cNvPr id="23" name="Text 20"/>
          <p:cNvSpPr/>
          <p:nvPr/>
        </p:nvSpPr>
        <p:spPr>
          <a:xfrm>
            <a:off x="5340028" y="2149004"/>
            <a:ext cx="30883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2D mobile BCS + GPS-linked THI late fusion</a:t>
            </a:r>
            <a:endParaRPr lang="en-US" sz="940"/>
          </a:p>
        </p:txBody>
      </p:sp>
      <p:sp>
        <p:nvSpPr>
          <p:cNvPr id="24" name="Text 21"/>
          <p:cNvSpPr/>
          <p:nvPr/>
        </p:nvSpPr>
        <p:spPr>
          <a:xfrm>
            <a:off x="5340028" y="2404318"/>
            <a:ext cx="27064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OOD gate + multi-label Swin diagnosis</a:t>
            </a:r>
            <a:endParaRPr lang="en-US" sz="940"/>
          </a:p>
        </p:txBody>
      </p:sp>
      <p:sp>
        <p:nvSpPr>
          <p:cNvPr id="25" name="Text 22"/>
          <p:cNvSpPr/>
          <p:nvPr/>
        </p:nvSpPr>
        <p:spPr>
          <a:xfrm>
            <a:off x="5340028" y="2659633"/>
            <a:ext cx="336143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BSS, prognosis, and explainable clinical outputs</a:t>
            </a:r>
            <a:endParaRPr lang="en-US" sz="940"/>
          </a:p>
        </p:txBody>
      </p:sp>
      <p:sp>
        <p:nvSpPr>
          <p:cNvPr id="26" name="Text 23"/>
          <p:cNvSpPr/>
          <p:nvPr/>
        </p:nvSpPr>
        <p:spPr>
          <a:xfrm>
            <a:off x="5340028" y="2914948"/>
            <a:ext cx="27043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ST-DBSCAN + EVF + Ridge trajectories</a:t>
            </a:r>
            <a:endParaRPr lang="en-US" sz="940"/>
          </a:p>
        </p:txBody>
      </p:sp>
      <p:sp>
        <p:nvSpPr>
          <p:cNvPr id="27" name="Text 24"/>
          <p:cNvSpPr/>
          <p:nvPr/>
        </p:nvSpPr>
        <p:spPr>
          <a:xfrm>
            <a:off x="5340028" y="3170262"/>
            <a:ext cx="329082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Calibrated nowcasting + conformal uncertainty</a:t>
            </a:r>
            <a:endParaRPr lang="en-US" sz="940"/>
          </a:p>
        </p:txBody>
      </p:sp>
      <p:sp>
        <p:nvSpPr>
          <p:cNvPr id="28" name="Shape 25"/>
          <p:cNvSpPr/>
          <p:nvPr/>
        </p:nvSpPr>
        <p:spPr>
          <a:xfrm>
            <a:off x="547688" y="3875633"/>
            <a:ext cx="8048625" cy="547687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29" name="Shape 26"/>
          <p:cNvSpPr/>
          <p:nvPr/>
        </p:nvSpPr>
        <p:spPr>
          <a:xfrm>
            <a:off x="549511" y="4004556"/>
            <a:ext cx="66675" cy="66675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7"/>
          <p:cNvSpPr/>
          <p:nvPr/>
        </p:nvSpPr>
        <p:spPr>
          <a:xfrm>
            <a:off x="726802" y="3954512"/>
            <a:ext cx="861848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gap is operational: evidence must move from farmer-triggered triage to</a:t>
            </a:r>
            <a:endParaRPr lang="en-US" sz="1550"/>
          </a:p>
        </p:txBody>
      </p:sp>
      <p:sp>
        <p:nvSpPr>
          <p:cNvPr id="31" name="Text 28"/>
          <p:cNvSpPr/>
          <p:nvPr/>
        </p:nvSpPr>
        <p:spPr>
          <a:xfrm>
            <a:off x="726802" y="4174703"/>
            <a:ext cx="817320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clinical severity, mapped trajectories, and concurrent district-level risk.</a:t>
            </a:r>
            <a:endParaRPr lang="en-US" sz="1550"/>
          </a:p>
        </p:txBody>
      </p:sp>
      <p:sp>
        <p:nvSpPr>
          <p:cNvPr id="32" name="Text 29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3" name="Text 30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76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3875633"/>
            <a:ext cx="8048625" cy="54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416198"/>
            <a:ext cx="191974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RESEARCH LOGIC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58478"/>
            <a:ext cx="7513156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Four objectives, four operational tiers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9659" y="1491853"/>
            <a:ext cx="1947862" cy="1338262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667420" y="1634207"/>
            <a:ext cx="5064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1</a:t>
            </a:r>
            <a:endParaRPr lang="en-US" sz="760"/>
          </a:p>
        </p:txBody>
      </p:sp>
      <p:sp>
        <p:nvSpPr>
          <p:cNvPr id="9" name="Text 6"/>
          <p:cNvSpPr/>
          <p:nvPr/>
        </p:nvSpPr>
        <p:spPr>
          <a:xfrm>
            <a:off x="667420" y="1937221"/>
            <a:ext cx="16043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40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Wellness triage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667420" y="2267099"/>
            <a:ext cx="2244693" cy="291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Dual-trigger logs, 2D BCS, GPS</a:t>
            </a:r>
            <a:endParaRPr lang="en-US" sz="860"/>
          </a:p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THI, and late-fusion classification.</a:t>
            </a:r>
            <a:endParaRPr lang="en-US" sz="860"/>
          </a:p>
        </p:txBody>
      </p:sp>
      <p:sp>
        <p:nvSpPr>
          <p:cNvPr id="11" name="Shape 8"/>
          <p:cNvSpPr/>
          <p:nvPr/>
        </p:nvSpPr>
        <p:spPr>
          <a:xfrm>
            <a:off x="2581908" y="1491853"/>
            <a:ext cx="1947862" cy="1338262"/>
          </a:xfrm>
          <a:prstGeom prst="rect">
            <a:avLst/>
          </a:prstGeom>
          <a:solidFill>
            <a:srgbClr val="DFE9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2699668" y="1634207"/>
            <a:ext cx="5064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2</a:t>
            </a:r>
            <a:endParaRPr lang="en-US" sz="760"/>
          </a:p>
        </p:txBody>
      </p:sp>
      <p:sp>
        <p:nvSpPr>
          <p:cNvPr id="13" name="Text 10"/>
          <p:cNvSpPr/>
          <p:nvPr/>
        </p:nvSpPr>
        <p:spPr>
          <a:xfrm>
            <a:off x="2699668" y="1937221"/>
            <a:ext cx="13319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40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Clinical core</a:t>
            </a:r>
            <a:endParaRPr lang="en-US" sz="1400"/>
          </a:p>
        </p:txBody>
      </p:sp>
      <p:sp>
        <p:nvSpPr>
          <p:cNvPr id="14" name="Text 11"/>
          <p:cNvSpPr/>
          <p:nvPr/>
        </p:nvSpPr>
        <p:spPr>
          <a:xfrm>
            <a:off x="2699668" y="2267099"/>
            <a:ext cx="2099876" cy="43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 invalid inputs; diagnose</a:t>
            </a:r>
            <a:endParaRPr lang="en-US" sz="860"/>
          </a:p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comorbidities; quantify BSS and</a:t>
            </a:r>
            <a:endParaRPr lang="en-US" sz="860"/>
          </a:p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prognosis.</a:t>
            </a:r>
            <a:endParaRPr lang="en-US" sz="860"/>
          </a:p>
        </p:txBody>
      </p:sp>
      <p:sp>
        <p:nvSpPr>
          <p:cNvPr id="15" name="Shape 12"/>
          <p:cNvSpPr/>
          <p:nvPr/>
        </p:nvSpPr>
        <p:spPr>
          <a:xfrm>
            <a:off x="4614156" y="1491853"/>
            <a:ext cx="1947862" cy="1338262"/>
          </a:xfrm>
          <a:prstGeom prst="rect">
            <a:avLst/>
          </a:prstGeom>
          <a:solidFill>
            <a:srgbClr val="E6EE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4731916" y="1634207"/>
            <a:ext cx="5064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3</a:t>
            </a:r>
            <a:endParaRPr lang="en-US" sz="760"/>
          </a:p>
        </p:txBody>
      </p:sp>
      <p:sp>
        <p:nvSpPr>
          <p:cNvPr id="17" name="Text 14"/>
          <p:cNvSpPr/>
          <p:nvPr/>
        </p:nvSpPr>
        <p:spPr>
          <a:xfrm>
            <a:off x="4731916" y="1937221"/>
            <a:ext cx="20047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40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Spatial trajectories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4731916" y="2267099"/>
            <a:ext cx="2281163" cy="43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 cases, model</a:t>
            </a:r>
            <a:endParaRPr lang="en-US" sz="860"/>
          </a:p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environmental vectors, and project</a:t>
            </a:r>
            <a:endParaRPr lang="en-US" sz="860"/>
          </a:p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centroid movement.</a:t>
            </a:r>
            <a:endParaRPr lang="en-US" sz="860"/>
          </a:p>
        </p:txBody>
      </p:sp>
      <p:sp>
        <p:nvSpPr>
          <p:cNvPr id="19" name="Shape 16"/>
          <p:cNvSpPr/>
          <p:nvPr/>
        </p:nvSpPr>
        <p:spPr>
          <a:xfrm>
            <a:off x="6646441" y="1491853"/>
            <a:ext cx="1947862" cy="1338262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6764164" y="1634207"/>
            <a:ext cx="5064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4</a:t>
            </a:r>
            <a:endParaRPr lang="en-US" sz="760"/>
          </a:p>
        </p:txBody>
      </p:sp>
      <p:sp>
        <p:nvSpPr>
          <p:cNvPr id="21" name="Text 18"/>
          <p:cNvSpPr/>
          <p:nvPr/>
        </p:nvSpPr>
        <p:spPr>
          <a:xfrm>
            <a:off x="6764164" y="1937221"/>
            <a:ext cx="172346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400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Risk nowcasting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6764164" y="2267099"/>
            <a:ext cx="2250594" cy="291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 calibrated district-month</a:t>
            </a:r>
            <a:endParaRPr lang="en-US" sz="860"/>
          </a:p>
          <a:p>
            <a:pPr marL="0" indent="0" algn="l">
              <a:lnSpc>
                <a:spcPts val="1167"/>
              </a:lnSpc>
              <a:buNone/>
            </a:pPr>
            <a:r>
              <a:rPr lang="en-US" sz="86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with uncertainty and XAI.</a:t>
            </a:r>
            <a:endParaRPr lang="en-US" sz="860"/>
          </a:p>
        </p:txBody>
      </p:sp>
      <p:sp>
        <p:nvSpPr>
          <p:cNvPr id="23" name="Shape 20"/>
          <p:cNvSpPr/>
          <p:nvPr/>
        </p:nvSpPr>
        <p:spPr>
          <a:xfrm>
            <a:off x="548432" y="4187391"/>
            <a:ext cx="1928813" cy="185738"/>
          </a:xfrm>
          <a:prstGeom prst="roundRect">
            <a:avLst>
              <a:gd name="adj" fmla="val 50000"/>
            </a:avLst>
          </a:prstGeom>
          <a:solidFill>
            <a:srgbClr val="D7E4D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621729" y="4216450"/>
            <a:ext cx="23740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STRUCTURED CONTRIBUTIONS</a:t>
            </a:r>
            <a:endParaRPr lang="en-US" sz="720"/>
          </a:p>
        </p:txBody>
      </p:sp>
      <p:sp>
        <p:nvSpPr>
          <p:cNvPr id="25" name="Text 22"/>
          <p:cNvSpPr/>
          <p:nvPr/>
        </p:nvSpPr>
        <p:spPr>
          <a:xfrm>
            <a:off x="2568476" y="4160193"/>
            <a:ext cx="2563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>
                <a:solidFill>
                  <a:srgbClr val="A16F3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40"/>
          </a:p>
        </p:txBody>
      </p:sp>
      <p:sp>
        <p:nvSpPr>
          <p:cNvPr id="26" name="Text 23"/>
          <p:cNvSpPr/>
          <p:nvPr/>
        </p:nvSpPr>
        <p:spPr>
          <a:xfrm>
            <a:off x="2952452" y="4210943"/>
            <a:ext cx="405544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124">
                <a:solidFill>
                  <a:srgbClr val="6876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FRAMEWORK, DISTINCT EVIDENCE STATUS</a:t>
            </a:r>
            <a:endParaRPr lang="en-US" sz="830"/>
          </a:p>
        </p:txBody>
      </p:sp>
      <p:sp>
        <p:nvSpPr>
          <p:cNvPr id="27" name="Text 24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28" name="Text 25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76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659" y="1491853"/>
            <a:ext cx="1947862" cy="1338262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1908" y="1491853"/>
            <a:ext cx="1947862" cy="1338262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4156" y="1491853"/>
            <a:ext cx="1947862" cy="1338262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6441" y="1491853"/>
            <a:ext cx="1947862" cy="133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22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D7DFD7">
                <a:alpha val="34902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D5B67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364778"/>
            <a:ext cx="231192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PROPOSED FRAMEWORK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07057"/>
            <a:ext cx="7213171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ADRS four-tier operating model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9287" y="1336328"/>
            <a:ext cx="3967162" cy="1133475"/>
          </a:xfrm>
          <a:prstGeom prst="rect">
            <a:avLst/>
          </a:prstGeom>
          <a:solidFill>
            <a:srgbClr val="EADFCA"/>
          </a:solidFill>
          <a:ln w="4763">
            <a:solidFill>
              <a:srgbClr val="D5B58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671773" y="1459743"/>
            <a:ext cx="1038225" cy="185738"/>
          </a:xfrm>
          <a:prstGeom prst="roundRect">
            <a:avLst>
              <a:gd name="adj" fmla="val 50000"/>
            </a:avLst>
          </a:prstGeom>
          <a:solidFill>
            <a:srgbClr val="EADBC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745331" y="1488802"/>
            <a:ext cx="12155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1 / FARM</a:t>
            </a:r>
            <a:endParaRPr lang="en-US" sz="720"/>
          </a:p>
        </p:txBody>
      </p:sp>
      <p:sp>
        <p:nvSpPr>
          <p:cNvPr id="10" name="Text 7"/>
          <p:cNvSpPr/>
          <p:nvPr/>
        </p:nvSpPr>
        <p:spPr>
          <a:xfrm>
            <a:off x="672182" y="1756693"/>
            <a:ext cx="18033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Wellness triage</a:t>
            </a:r>
            <a:endParaRPr lang="en-US" sz="1580"/>
          </a:p>
        </p:txBody>
      </p:sp>
      <p:sp>
        <p:nvSpPr>
          <p:cNvPr id="11" name="Text 8"/>
          <p:cNvSpPr/>
          <p:nvPr/>
        </p:nvSpPr>
        <p:spPr>
          <a:xfrm>
            <a:off x="672182" y="2109788"/>
            <a:ext cx="4640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Milk + weight dual trigger · 7-day behavior · YOLOv8 / CNN BCS · GPS</a:t>
            </a:r>
            <a:endParaRPr lang="en-US" sz="90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 late fusion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4627550" y="1336328"/>
            <a:ext cx="3967162" cy="1133475"/>
          </a:xfrm>
          <a:prstGeom prst="rect">
            <a:avLst/>
          </a:prstGeom>
          <a:solidFill>
            <a:srgbClr val="DFE9E1"/>
          </a:solidFill>
          <a:ln w="4763">
            <a:solidFill>
              <a:srgbClr val="D7DFD7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751375" y="1459743"/>
            <a:ext cx="1309687" cy="185738"/>
          </a:xfrm>
          <a:prstGeom prst="roundRect">
            <a:avLst>
              <a:gd name="adj" fmla="val 50000"/>
            </a:avLst>
          </a:prstGeom>
          <a:solidFill>
            <a:srgbClr val="D7E4D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4823594" y="1488802"/>
            <a:ext cx="157197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2 / CLINICAL</a:t>
            </a:r>
            <a:endParaRPr lang="en-US" sz="720"/>
          </a:p>
        </p:txBody>
      </p:sp>
      <p:sp>
        <p:nvSpPr>
          <p:cNvPr id="15" name="Text 12"/>
          <p:cNvSpPr/>
          <p:nvPr/>
        </p:nvSpPr>
        <p:spPr>
          <a:xfrm>
            <a:off x="4750445" y="1756693"/>
            <a:ext cx="260668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Diagnosis &amp; prognosis</a:t>
            </a:r>
            <a:endParaRPr lang="en-US" sz="1580"/>
          </a:p>
        </p:txBody>
      </p:sp>
      <p:sp>
        <p:nvSpPr>
          <p:cNvPr id="16" name="Text 13"/>
          <p:cNvSpPr/>
          <p:nvPr/>
        </p:nvSpPr>
        <p:spPr>
          <a:xfrm>
            <a:off x="4750445" y="2109788"/>
            <a:ext cx="457908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>
                <a:solidFill>
                  <a:srgbClr val="53645D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YOLOv8 / AE gate · Swin multi-label · Mask R-CNN / BSS · MLP</a:t>
            </a:r>
            <a:endParaRPr lang="en-US" sz="900">
              <a:latin typeface="IBM Plex Sans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90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recoverability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549287" y="2577554"/>
            <a:ext cx="3967162" cy="1133475"/>
          </a:xfrm>
          <a:prstGeom prst="rect">
            <a:avLst/>
          </a:prstGeom>
          <a:solidFill>
            <a:srgbClr val="1D5949"/>
          </a:solidFill>
          <a:ln w="4763">
            <a:solidFill>
              <a:srgbClr val="D7DFD7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672182" y="2700970"/>
            <a:ext cx="1243013" cy="185738"/>
          </a:xfrm>
          <a:prstGeom prst="roundRect">
            <a:avLst>
              <a:gd name="adj" fmla="val 50000"/>
            </a:avLst>
          </a:prstGeom>
          <a:solidFill>
            <a:srgbClr val="D7E4D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745331" y="2730029"/>
            <a:ext cx="14828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3 / SPATIAL</a:t>
            </a:r>
            <a:endParaRPr lang="en-US" sz="720"/>
          </a:p>
        </p:txBody>
      </p:sp>
      <p:sp>
        <p:nvSpPr>
          <p:cNvPr id="20" name="Text 17"/>
          <p:cNvSpPr/>
          <p:nvPr/>
        </p:nvSpPr>
        <p:spPr>
          <a:xfrm>
            <a:off x="672182" y="2997919"/>
            <a:ext cx="268978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Trajectory intelligence</a:t>
            </a:r>
            <a:endParaRPr lang="en-US" sz="1580"/>
          </a:p>
        </p:txBody>
      </p:sp>
      <p:sp>
        <p:nvSpPr>
          <p:cNvPr id="21" name="Text 18"/>
          <p:cNvSpPr/>
          <p:nvPr/>
        </p:nvSpPr>
        <p:spPr>
          <a:xfrm>
            <a:off x="672182" y="3351014"/>
            <a:ext cx="45413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405"/>
              </a:spcBef>
            </a:pPr>
            <a:r>
              <a:rPr lang="en-US" sz="900" err="1">
                <a:solidFill>
                  <a:srgbClr val="A9BEB3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FastAPI</a:t>
            </a:r>
            <a:r>
              <a:rPr lang="en-US" sz="900">
                <a:solidFill>
                  <a:srgbClr val="A9BEB3"/>
                </a:solidFill>
                <a:latin typeface="IBM Plex Sans"/>
                <a:ea typeface="IBM Plex Sans" pitchFamily="34" charset="-122"/>
                <a:cs typeface="IBM Plex Sans" pitchFamily="34" charset="-120"/>
              </a:rPr>
              <a:t> / MongoDB· ST-DBSCAN · EVF · Ridge Day+7 / +14 / +21</a:t>
            </a:r>
            <a:endParaRPr lang="en-US" sz="900">
              <a:latin typeface="IBM Plex San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27550" y="2577554"/>
            <a:ext cx="3967162" cy="1133475"/>
          </a:xfrm>
          <a:prstGeom prst="rect">
            <a:avLst/>
          </a:prstGeom>
          <a:solidFill>
            <a:srgbClr val="EADFCA"/>
          </a:solidFill>
          <a:ln w="4763">
            <a:solidFill>
              <a:srgbClr val="D5B58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0"/>
          <p:cNvSpPr/>
          <p:nvPr/>
        </p:nvSpPr>
        <p:spPr>
          <a:xfrm>
            <a:off x="4750966" y="2700970"/>
            <a:ext cx="1104900" cy="185738"/>
          </a:xfrm>
          <a:prstGeom prst="roundRect">
            <a:avLst>
              <a:gd name="adj" fmla="val 50000"/>
            </a:avLst>
          </a:prstGeom>
          <a:solidFill>
            <a:srgbClr val="EADBC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4823594" y="2730029"/>
            <a:ext cx="130468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4 / MACRO</a:t>
            </a:r>
            <a:endParaRPr lang="en-US" sz="720"/>
          </a:p>
        </p:txBody>
      </p:sp>
      <p:sp>
        <p:nvSpPr>
          <p:cNvPr id="25" name="Text 22"/>
          <p:cNvSpPr/>
          <p:nvPr/>
        </p:nvSpPr>
        <p:spPr>
          <a:xfrm>
            <a:off x="4750445" y="2997919"/>
            <a:ext cx="32763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Concurrent risk nowcasting</a:t>
            </a:r>
            <a:endParaRPr lang="en-US" sz="1580"/>
          </a:p>
        </p:txBody>
      </p:sp>
      <p:sp>
        <p:nvSpPr>
          <p:cNvPr id="26" name="Text 23"/>
          <p:cNvSpPr/>
          <p:nvPr/>
        </p:nvSpPr>
        <p:spPr>
          <a:xfrm>
            <a:off x="4750445" y="3351014"/>
            <a:ext cx="469749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 districts · climate/teleconnection grids · calibrated risk · conformal</a:t>
            </a:r>
            <a:endParaRPr lang="en-US" sz="90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sets · linear log-odds XAI</a:t>
            </a:r>
            <a:endParaRPr lang="en-US" sz="900"/>
          </a:p>
        </p:txBody>
      </p:sp>
      <p:sp>
        <p:nvSpPr>
          <p:cNvPr id="27" name="Shape 24"/>
          <p:cNvSpPr/>
          <p:nvPr/>
        </p:nvSpPr>
        <p:spPr>
          <a:xfrm>
            <a:off x="549064" y="3976278"/>
            <a:ext cx="1266825" cy="9525"/>
          </a:xfrm>
          <a:prstGeom prst="rect">
            <a:avLst/>
          </a:prstGeom>
          <a:solidFill>
            <a:srgbClr val="D7DFD7">
              <a:alpha val="25098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1907753" y="3913808"/>
            <a:ext cx="69841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94AC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FARM SIGNAL → CLINICAL EVIDENCE → SPATIAL TRAJECTORY → DISTRICT-MONTH RISK</a:t>
            </a:r>
            <a:endParaRPr lang="en-US" sz="760"/>
          </a:p>
        </p:txBody>
      </p:sp>
      <p:sp>
        <p:nvSpPr>
          <p:cNvPr id="29" name="Shape 26"/>
          <p:cNvSpPr/>
          <p:nvPr/>
        </p:nvSpPr>
        <p:spPr>
          <a:xfrm>
            <a:off x="7328111" y="3976278"/>
            <a:ext cx="1266825" cy="9525"/>
          </a:xfrm>
          <a:prstGeom prst="rect">
            <a:avLst/>
          </a:prstGeom>
          <a:solidFill>
            <a:srgbClr val="D7DFD7">
              <a:alpha val="25098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7"/>
          <p:cNvSpPr/>
          <p:nvPr/>
        </p:nvSpPr>
        <p:spPr>
          <a:xfrm>
            <a:off x="548580" y="4393927"/>
            <a:ext cx="21066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FOUR SYNCHRONIZED TIERS</a:t>
            </a:r>
            <a:endParaRPr lang="en-US" sz="720"/>
          </a:p>
        </p:txBody>
      </p:sp>
      <p:sp>
        <p:nvSpPr>
          <p:cNvPr id="31" name="Text 28"/>
          <p:cNvSpPr/>
          <p:nvPr/>
        </p:nvSpPr>
        <p:spPr>
          <a:xfrm>
            <a:off x="3578051" y="4393927"/>
            <a:ext cx="8592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FMD + LSD</a:t>
            </a:r>
            <a:endParaRPr lang="en-US" sz="720"/>
          </a:p>
        </p:txBody>
      </p:sp>
      <p:sp>
        <p:nvSpPr>
          <p:cNvPr id="32" name="Text 29"/>
          <p:cNvSpPr/>
          <p:nvPr/>
        </p:nvSpPr>
        <p:spPr>
          <a:xfrm>
            <a:off x="5647953" y="4393927"/>
            <a:ext cx="388885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SUPPORT, NOT END-TO-END VALIDATION</a:t>
            </a:r>
            <a:endParaRPr lang="en-US" sz="720"/>
          </a:p>
        </p:txBody>
      </p:sp>
      <p:sp>
        <p:nvSpPr>
          <p:cNvPr id="33" name="Text 30"/>
          <p:cNvSpPr/>
          <p:nvPr/>
        </p:nvSpPr>
        <p:spPr>
          <a:xfrm>
            <a:off x="548580" y="4783113"/>
            <a:ext cx="29587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END-TO-END EVIDENCE FLOW</a:t>
            </a:r>
            <a:endParaRPr lang="en-US" sz="760"/>
          </a:p>
        </p:txBody>
      </p:sp>
      <p:sp>
        <p:nvSpPr>
          <p:cNvPr id="34" name="Text 31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D7DFD7">
                <a:alpha val="34902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D5B67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364778"/>
            <a:ext cx="16256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INTEGRATION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1845203"/>
            <a:ext cx="6803291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607"/>
              </a:spcBef>
            </a:pPr>
            <a:r>
              <a:rPr lang="en-US" sz="3000" kern="0" spc="-136">
                <a:solidFill>
                  <a:srgbClr val="F4F0E8"/>
                </a:solidFill>
                <a:latin typeface="DM Serif Display"/>
                <a:ea typeface="DM Serif Display" pitchFamily="34" charset="-122"/>
                <a:cs typeface="DM Serif Display" pitchFamily="34" charset="-120"/>
              </a:rPr>
              <a:t>System Architecture </a:t>
            </a:r>
            <a:endParaRPr lang="en-US" sz="3000">
              <a:solidFill>
                <a:srgbClr val="000000"/>
              </a:solidFill>
              <a:latin typeface="DM Serif Display"/>
              <a:ea typeface="Calibri"/>
              <a:cs typeface="Calibri"/>
            </a:endParaRPr>
          </a:p>
          <a:p>
            <a:pPr>
              <a:spcBef>
                <a:spcPts val="607"/>
              </a:spcBef>
            </a:pPr>
            <a:r>
              <a:rPr lang="en-US" sz="3000" kern="0" spc="-136">
                <a:solidFill>
                  <a:srgbClr val="F4F0E8"/>
                </a:solidFill>
                <a:latin typeface="DM Serif Display"/>
                <a:ea typeface="DM Serif Display" pitchFamily="34" charset="-122"/>
                <a:cs typeface="DM Serif Display" pitchFamily="34" charset="-120"/>
              </a:rPr>
              <a:t>&amp; </a:t>
            </a:r>
            <a:endParaRPr lang="en-US" sz="3000">
              <a:solidFill>
                <a:srgbClr val="000000"/>
              </a:solidFill>
              <a:latin typeface="DM Serif Display"/>
              <a:ea typeface="Calibri"/>
              <a:cs typeface="Calibri"/>
            </a:endParaRPr>
          </a:p>
          <a:p>
            <a:pPr>
              <a:spcBef>
                <a:spcPts val="607"/>
              </a:spcBef>
            </a:pPr>
            <a:r>
              <a:rPr lang="en-US" sz="3000" kern="0" spc="-136">
                <a:solidFill>
                  <a:srgbClr val="F4F0E8"/>
                </a:solidFill>
                <a:latin typeface="DM Serif Display"/>
                <a:ea typeface="DM Serif Display" pitchFamily="34" charset="-122"/>
                <a:cs typeface="DM Serif Display" pitchFamily="34" charset="-120"/>
              </a:rPr>
              <a:t>Integration</a:t>
            </a:r>
            <a:endParaRPr lang="en-US" sz="3000">
              <a:latin typeface="DM Serif Display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81335" y="2113136"/>
            <a:ext cx="12155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PLATFORM</a:t>
            </a:r>
            <a:endParaRPr lang="en-US" sz="720"/>
          </a:p>
        </p:txBody>
      </p:sp>
      <p:sp>
        <p:nvSpPr>
          <p:cNvPr id="33" name="Shape 30"/>
          <p:cNvSpPr/>
          <p:nvPr/>
        </p:nvSpPr>
        <p:spPr>
          <a:xfrm>
            <a:off x="549511" y="4290306"/>
            <a:ext cx="1309687" cy="185738"/>
          </a:xfrm>
          <a:prstGeom prst="roundRect">
            <a:avLst>
              <a:gd name="adj" fmla="val 50000"/>
            </a:avLst>
          </a:prstGeom>
          <a:solidFill>
            <a:srgbClr val="EADBC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1"/>
          <p:cNvSpPr/>
          <p:nvPr/>
        </p:nvSpPr>
        <p:spPr>
          <a:xfrm>
            <a:off x="621729" y="4319364"/>
            <a:ext cx="157197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 COMMUNICATION</a:t>
            </a:r>
            <a:endParaRPr lang="en-US" sz="720"/>
          </a:p>
        </p:txBody>
      </p:sp>
      <p:sp>
        <p:nvSpPr>
          <p:cNvPr id="36" name="Text 33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7" name="Text 34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76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9A98F4-2E2C-C7E6-3AF5-D37B57540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184" y="0"/>
            <a:ext cx="4705815" cy="4705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416198"/>
            <a:ext cx="15276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EVALUATION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58478"/>
            <a:ext cx="10350877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Evaluation evidence &amp; non-functional requirements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9287" y="1439317"/>
            <a:ext cx="3967162" cy="1590675"/>
          </a:xfrm>
          <a:prstGeom prst="rect">
            <a:avLst/>
          </a:prstGeom>
          <a:solidFill>
            <a:srgbClr val="E6EE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685726" y="1582043"/>
            <a:ext cx="15547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SOURCES</a:t>
            </a:r>
            <a:endParaRPr lang="en-US" sz="760"/>
          </a:p>
        </p:txBody>
      </p:sp>
      <p:sp>
        <p:nvSpPr>
          <p:cNvPr id="9" name="Text 6"/>
          <p:cNvSpPr/>
          <p:nvPr/>
        </p:nvSpPr>
        <p:spPr>
          <a:xfrm>
            <a:off x="685726" y="1823368"/>
            <a:ext cx="394361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66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Local signals + national archives</a:t>
            </a:r>
            <a:endParaRPr lang="en-US" sz="1660"/>
          </a:p>
        </p:txBody>
      </p:sp>
      <p:sp>
        <p:nvSpPr>
          <p:cNvPr id="11" name="Text 8"/>
          <p:cNvSpPr/>
          <p:nvPr/>
        </p:nvSpPr>
        <p:spPr>
          <a:xfrm>
            <a:off x="685726" y="2752799"/>
            <a:ext cx="29772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760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FMD: 2,400 DISTRICT-MONTHS · LSD: 1,500</a:t>
            </a:r>
            <a:endParaRPr lang="en-US" sz="760"/>
          </a:p>
        </p:txBody>
      </p:sp>
      <p:sp>
        <p:nvSpPr>
          <p:cNvPr id="12" name="Shape 9"/>
          <p:cNvSpPr/>
          <p:nvPr/>
        </p:nvSpPr>
        <p:spPr>
          <a:xfrm>
            <a:off x="4627550" y="1439317"/>
            <a:ext cx="3967162" cy="1590675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4763988" y="1582043"/>
            <a:ext cx="192913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VALIDATION PROTOCOLS</a:t>
            </a:r>
            <a:endParaRPr lang="en-US" sz="760"/>
          </a:p>
        </p:txBody>
      </p:sp>
      <p:sp>
        <p:nvSpPr>
          <p:cNvPr id="14" name="Text 11"/>
          <p:cNvSpPr/>
          <p:nvPr/>
        </p:nvSpPr>
        <p:spPr>
          <a:xfrm>
            <a:off x="4763988" y="1823368"/>
            <a:ext cx="26704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66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Split by task and time</a:t>
            </a:r>
            <a:endParaRPr lang="en-US" sz="1660"/>
          </a:p>
        </p:txBody>
      </p:sp>
      <p:sp>
        <p:nvSpPr>
          <p:cNvPr id="16" name="Text 13"/>
          <p:cNvSpPr/>
          <p:nvPr/>
        </p:nvSpPr>
        <p:spPr>
          <a:xfrm>
            <a:off x="4763988" y="2752799"/>
            <a:ext cx="31270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760">
                <a:solidFill>
                  <a:srgbClr val="7C58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AUDIT THE SPLIT BEFORE TRUSTING THE SCORE</a:t>
            </a:r>
            <a:endParaRPr lang="en-US" sz="760"/>
          </a:p>
        </p:txBody>
      </p:sp>
      <p:sp>
        <p:nvSpPr>
          <p:cNvPr id="17" name="Shape 14"/>
          <p:cNvSpPr/>
          <p:nvPr/>
        </p:nvSpPr>
        <p:spPr>
          <a:xfrm>
            <a:off x="547688" y="3751101"/>
            <a:ext cx="8048625" cy="671513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15"/>
          <p:cNvSpPr/>
          <p:nvPr/>
        </p:nvSpPr>
        <p:spPr>
          <a:xfrm>
            <a:off x="547576" y="3856695"/>
            <a:ext cx="1519238" cy="185738"/>
          </a:xfrm>
          <a:prstGeom prst="roundRect">
            <a:avLst>
              <a:gd name="adj" fmla="val 50000"/>
            </a:avLst>
          </a:prstGeom>
          <a:solidFill>
            <a:srgbClr val="EADBC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621729" y="3885754"/>
            <a:ext cx="18393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NFR 01 / PERFORMANCE</a:t>
            </a:r>
            <a:endParaRPr lang="en-US" sz="720"/>
          </a:p>
        </p:txBody>
      </p:sp>
      <p:sp>
        <p:nvSpPr>
          <p:cNvPr id="20" name="Text 17"/>
          <p:cNvSpPr/>
          <p:nvPr/>
        </p:nvSpPr>
        <p:spPr>
          <a:xfrm>
            <a:off x="548580" y="4117628"/>
            <a:ext cx="239570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83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Spatial processing latency &lt;3 seconds</a:t>
            </a:r>
            <a:endParaRPr lang="en-US" sz="830"/>
          </a:p>
        </p:txBody>
      </p:sp>
      <p:sp>
        <p:nvSpPr>
          <p:cNvPr id="21" name="Shape 18"/>
          <p:cNvSpPr/>
          <p:nvPr/>
        </p:nvSpPr>
        <p:spPr>
          <a:xfrm>
            <a:off x="2583582" y="3856695"/>
            <a:ext cx="1447800" cy="185738"/>
          </a:xfrm>
          <a:prstGeom prst="roundRect">
            <a:avLst>
              <a:gd name="adj" fmla="val 50000"/>
            </a:avLst>
          </a:prstGeom>
          <a:solidFill>
            <a:srgbClr val="D7E4D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2656284" y="3885754"/>
            <a:ext cx="175026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NFR 02 / ROBUSTNESS</a:t>
            </a:r>
            <a:endParaRPr lang="en-US" sz="720"/>
          </a:p>
        </p:txBody>
      </p:sp>
      <p:sp>
        <p:nvSpPr>
          <p:cNvPr id="23" name="Text 20"/>
          <p:cNvSpPr/>
          <p:nvPr/>
        </p:nvSpPr>
        <p:spPr>
          <a:xfrm>
            <a:off x="2583135" y="4117628"/>
            <a:ext cx="2575828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OOD rejection prevents unsuitable inputs</a:t>
            </a:r>
            <a:endParaRPr lang="en-US" sz="83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downstream</a:t>
            </a:r>
            <a:endParaRPr lang="en-US" sz="830"/>
          </a:p>
        </p:txBody>
      </p:sp>
      <p:sp>
        <p:nvSpPr>
          <p:cNvPr id="24" name="Shape 21"/>
          <p:cNvSpPr/>
          <p:nvPr/>
        </p:nvSpPr>
        <p:spPr>
          <a:xfrm>
            <a:off x="4617616" y="3856695"/>
            <a:ext cx="1585913" cy="185738"/>
          </a:xfrm>
          <a:prstGeom prst="roundRect">
            <a:avLst>
              <a:gd name="adj" fmla="val 50000"/>
            </a:avLst>
          </a:prstGeom>
          <a:solidFill>
            <a:srgbClr val="D7E4D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4690839" y="3885754"/>
            <a:ext cx="19284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NFR 03 / AUDITABILITY</a:t>
            </a:r>
            <a:endParaRPr lang="en-US" sz="720"/>
          </a:p>
        </p:txBody>
      </p:sp>
      <p:sp>
        <p:nvSpPr>
          <p:cNvPr id="26" name="Text 23"/>
          <p:cNvSpPr/>
          <p:nvPr/>
        </p:nvSpPr>
        <p:spPr>
          <a:xfrm>
            <a:off x="4617690" y="4117628"/>
            <a:ext cx="217320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83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862 / 862 automated tests passed</a:t>
            </a:r>
            <a:endParaRPr lang="en-US" sz="830"/>
          </a:p>
        </p:txBody>
      </p:sp>
      <p:sp>
        <p:nvSpPr>
          <p:cNvPr id="27" name="Shape 24"/>
          <p:cNvSpPr/>
          <p:nvPr/>
        </p:nvSpPr>
        <p:spPr>
          <a:xfrm>
            <a:off x="6652766" y="3856695"/>
            <a:ext cx="1104900" cy="185738"/>
          </a:xfrm>
          <a:prstGeom prst="roundRect">
            <a:avLst>
              <a:gd name="adj" fmla="val 50000"/>
            </a:avLst>
          </a:prstGeom>
          <a:solidFill>
            <a:srgbClr val="DFE5D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6725394" y="3885754"/>
            <a:ext cx="130468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5364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NFR 04 / TRUST</a:t>
            </a:r>
            <a:endParaRPr lang="en-US" sz="720"/>
          </a:p>
        </p:txBody>
      </p:sp>
      <p:sp>
        <p:nvSpPr>
          <p:cNvPr id="29" name="Text 26"/>
          <p:cNvSpPr/>
          <p:nvPr/>
        </p:nvSpPr>
        <p:spPr>
          <a:xfrm>
            <a:off x="6652245" y="4117628"/>
            <a:ext cx="2176009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Calibration, conformal uncertainty,</a:t>
            </a:r>
            <a:endParaRPr lang="en-US" sz="83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provenance, and XAI</a:t>
            </a:r>
            <a:endParaRPr lang="en-US" sz="830"/>
          </a:p>
        </p:txBody>
      </p:sp>
      <p:sp>
        <p:nvSpPr>
          <p:cNvPr id="30" name="Text 27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1" name="Text 28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76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3751101"/>
            <a:ext cx="8048625" cy="6715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A64F1D5-EE3D-05B1-7B90-F0C197ACF848}"/>
              </a:ext>
            </a:extLst>
          </p:cNvPr>
          <p:cNvSpPr txBox="1"/>
          <p:nvPr/>
        </p:nvSpPr>
        <p:spPr>
          <a:xfrm>
            <a:off x="714046" y="2110638"/>
            <a:ext cx="309770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Combines local Sri Lankan field data with national outbreak records and trusted climate sources to build reliable disease-risk evidence.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5AF27B-3B39-63E1-5B0D-7F81FB354671}"/>
              </a:ext>
            </a:extLst>
          </p:cNvPr>
          <p:cNvSpPr txBox="1"/>
          <p:nvPr/>
        </p:nvSpPr>
        <p:spPr>
          <a:xfrm>
            <a:off x="4785004" y="2110637"/>
            <a:ext cx="309770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Each model is evaluated using a validation method suited to its task, while chronological splits prevent future data from leaking into past predictions.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705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364778"/>
            <a:ext cx="13315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EVIDENCE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07057"/>
            <a:ext cx="7260573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Audited results &amp; decision threshold</a:t>
            </a:r>
            <a:endParaRPr lang="en-US" sz="3020"/>
          </a:p>
        </p:txBody>
      </p:sp>
      <p:sp>
        <p:nvSpPr>
          <p:cNvPr id="8" name="Text 5"/>
          <p:cNvSpPr/>
          <p:nvPr/>
        </p:nvSpPr>
        <p:spPr>
          <a:xfrm>
            <a:off x="685726" y="1540148"/>
            <a:ext cx="31948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Multi-tier reconciliation</a:t>
            </a:r>
            <a:endParaRPr lang="en-US" sz="1800"/>
          </a:p>
        </p:txBody>
      </p:sp>
      <p:sp>
        <p:nvSpPr>
          <p:cNvPr id="9" name="Shape 6"/>
          <p:cNvSpPr/>
          <p:nvPr/>
        </p:nvSpPr>
        <p:spPr>
          <a:xfrm>
            <a:off x="3336208" y="1126848"/>
            <a:ext cx="1913481" cy="154423"/>
          </a:xfrm>
          <a:prstGeom prst="roundRect">
            <a:avLst>
              <a:gd name="adj" fmla="val 50000"/>
            </a:avLst>
          </a:prstGeom>
          <a:solidFill>
            <a:srgbClr val="D7E4D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3495957" y="1132422"/>
            <a:ext cx="166116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08">
                <a:solidFill>
                  <a:srgbClr val="174B3D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COMPONENT EVIDENCE</a:t>
            </a:r>
            <a:endParaRPr lang="en-US" sz="900">
              <a:latin typeface="IBM Plex Mono"/>
              <a:ea typeface="Calibri"/>
              <a:cs typeface="Calibr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075932" y="1389571"/>
            <a:ext cx="3519487" cy="2947987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213077" y="1540148"/>
            <a:ext cx="28486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Disease Classification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466310" y="1865757"/>
            <a:ext cx="976312" cy="319088"/>
          </a:xfrm>
          <a:prstGeom prst="roundRect">
            <a:avLst>
              <a:gd name="adj" fmla="val 50000"/>
            </a:avLst>
          </a:prstGeom>
          <a:solidFill>
            <a:srgbClr val="EADBC0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23" name="Text 20"/>
          <p:cNvSpPr/>
          <p:nvPr/>
        </p:nvSpPr>
        <p:spPr>
          <a:xfrm>
            <a:off x="5265730" y="1859889"/>
            <a:ext cx="220058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00" dirty="0">
                <a:solidFill>
                  <a:srgbClr val="174B3D"/>
                </a:solidFill>
                <a:latin typeface="DM Serif Display"/>
                <a:ea typeface="DM Serif Display" pitchFamily="34" charset="-122"/>
                <a:cs typeface="DM Serif Display" pitchFamily="34" charset="-120"/>
              </a:rPr>
              <a:t>90.11% Accuracy gained using vision transformer model</a:t>
            </a:r>
            <a:endParaRPr lang="en-US" sz="1000" dirty="0">
              <a:latin typeface="DM Serif Display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340579" y="2728075"/>
            <a:ext cx="219506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00" dirty="0">
                <a:solidFill>
                  <a:srgbClr val="174B3D"/>
                </a:solidFill>
                <a:latin typeface="DM Serif Display"/>
                <a:ea typeface="DM Serif Display" pitchFamily="34" charset="-122"/>
                <a:cs typeface="DM Serif Display" pitchFamily="34" charset="-120"/>
              </a:rPr>
              <a:t>84.6% Accuracy gained by YOLO model</a:t>
            </a:r>
            <a:endParaRPr lang="en-US" sz="1000" dirty="0">
              <a:latin typeface="DM Serif Display"/>
              <a:ea typeface="Calibri"/>
              <a:cs typeface="Calibr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59957" y="2571741"/>
            <a:ext cx="112649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08">
                <a:solidFill>
                  <a:srgbClr val="A16F37"/>
                </a:solidFill>
                <a:latin typeface="IBM Plex Mono"/>
                <a:ea typeface="IBM Plex Mono" pitchFamily="34" charset="-122"/>
                <a:cs typeface="IBM Plex Mono" pitchFamily="34" charset="-120"/>
              </a:rPr>
              <a:t>AUDIT STATUS</a:t>
            </a:r>
            <a:endParaRPr lang="en-US" sz="1200">
              <a:latin typeface="IBM Plex Mono"/>
              <a:ea typeface="Calibri"/>
              <a:cs typeface="Calibr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141751" y="3905027"/>
            <a:ext cx="3452813" cy="519112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1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5" name="Text 32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76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86" y="1571102"/>
            <a:ext cx="3243263" cy="577698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3745" y="3670164"/>
            <a:ext cx="3452813" cy="51911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6F07180-BEAF-A7F3-37B8-16BB016606FD}"/>
              </a:ext>
            </a:extLst>
          </p:cNvPr>
          <p:cNvSpPr txBox="1"/>
          <p:nvPr/>
        </p:nvSpPr>
        <p:spPr>
          <a:xfrm>
            <a:off x="598539" y="1942626"/>
            <a:ext cx="365423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Performance evidence from all four ADRS tiers was reviewed together to verify accuracy, robustness, spatial speed, and software reliability.</a:t>
            </a:r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D3BD5B-DD92-8B04-B34E-1D64432E6F18}"/>
              </a:ext>
            </a:extLst>
          </p:cNvPr>
          <p:cNvSpPr txBox="1"/>
          <p:nvPr/>
        </p:nvSpPr>
        <p:spPr>
          <a:xfrm>
            <a:off x="5246922" y="3196563"/>
            <a:ext cx="313970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1100" dirty="0"/>
              <a:t>These accuracies highlights the strength of deep learning in diverse computer vision tasks</a:t>
            </a:r>
            <a:endParaRPr lang="en-US" sz="1100" dirty="0">
              <a:ea typeface="+mn-lt"/>
              <a:cs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34B7DF-07DC-F536-C7ED-34DBEE40C398}"/>
              </a:ext>
            </a:extLst>
          </p:cNvPr>
          <p:cNvSpPr txBox="1"/>
          <p:nvPr/>
        </p:nvSpPr>
        <p:spPr>
          <a:xfrm>
            <a:off x="885718" y="2914166"/>
            <a:ext cx="279318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All 862 automated backend and frontend tests passed, confirming the integrity of the integrated software pipeline.</a:t>
            </a: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437AC6E1-642B-5A89-724F-3E4AEB31EA48}"/>
              </a:ext>
            </a:extLst>
          </p:cNvPr>
          <p:cNvSpPr/>
          <p:nvPr/>
        </p:nvSpPr>
        <p:spPr>
          <a:xfrm>
            <a:off x="5246922" y="2376478"/>
            <a:ext cx="28486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Cattle Detection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9458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6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416198"/>
            <a:ext cx="14295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READINESS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58478"/>
            <a:ext cx="7510641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Integration status &amp; completion gates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9101" y="1492448"/>
            <a:ext cx="3976687" cy="1228725"/>
          </a:xfrm>
          <a:prstGeom prst="rect">
            <a:avLst/>
          </a:prstGeom>
          <a:solidFill>
            <a:srgbClr val="174B3D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8" name="Text 5"/>
          <p:cNvSpPr/>
          <p:nvPr/>
        </p:nvSpPr>
        <p:spPr>
          <a:xfrm>
            <a:off x="758875" y="1656606"/>
            <a:ext cx="166116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highlight>
                  <a:srgbClr val="EADBC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 / T1 + T2</a:t>
            </a:r>
            <a:endParaRPr lang="en-US" sz="720"/>
          </a:p>
        </p:txBody>
      </p:sp>
      <p:sp>
        <p:nvSpPr>
          <p:cNvPr id="9" name="Text 6"/>
          <p:cNvSpPr/>
          <p:nvPr/>
        </p:nvSpPr>
        <p:spPr>
          <a:xfrm>
            <a:off x="4252020" y="1656606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20"/>
          </a:p>
        </p:txBody>
      </p:sp>
      <p:sp>
        <p:nvSpPr>
          <p:cNvPr id="10" name="Text 7"/>
          <p:cNvSpPr/>
          <p:nvPr/>
        </p:nvSpPr>
        <p:spPr>
          <a:xfrm>
            <a:off x="685726" y="1934766"/>
            <a:ext cx="24175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80" dirty="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Farm → clinical path</a:t>
            </a:r>
            <a:endParaRPr lang="en-US" sz="1580" dirty="0"/>
          </a:p>
        </p:txBody>
      </p:sp>
      <p:sp>
        <p:nvSpPr>
          <p:cNvPr id="12" name="Shape 9"/>
          <p:cNvSpPr/>
          <p:nvPr/>
        </p:nvSpPr>
        <p:spPr>
          <a:xfrm>
            <a:off x="4618211" y="1492448"/>
            <a:ext cx="3976687" cy="1228725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4827984" y="1656606"/>
            <a:ext cx="12155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7C582D"/>
                </a:solidFill>
                <a:highlight>
                  <a:srgbClr val="EADBC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 / T3</a:t>
            </a:r>
            <a:endParaRPr lang="en-US" sz="720"/>
          </a:p>
        </p:txBody>
      </p:sp>
      <p:sp>
        <p:nvSpPr>
          <p:cNvPr id="14" name="Text 11"/>
          <p:cNvSpPr/>
          <p:nvPr/>
        </p:nvSpPr>
        <p:spPr>
          <a:xfrm>
            <a:off x="8321129" y="1656606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20"/>
          </a:p>
        </p:txBody>
      </p:sp>
      <p:sp>
        <p:nvSpPr>
          <p:cNvPr id="15" name="Text 12"/>
          <p:cNvSpPr/>
          <p:nvPr/>
        </p:nvSpPr>
        <p:spPr>
          <a:xfrm>
            <a:off x="4754835" y="1832992"/>
            <a:ext cx="299412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8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Case → trajectory service</a:t>
            </a:r>
            <a:endParaRPr lang="en-US" sz="1580"/>
          </a:p>
        </p:txBody>
      </p:sp>
      <p:sp>
        <p:nvSpPr>
          <p:cNvPr id="17" name="Shape 14"/>
          <p:cNvSpPr/>
          <p:nvPr/>
        </p:nvSpPr>
        <p:spPr>
          <a:xfrm>
            <a:off x="549101" y="2814340"/>
            <a:ext cx="3976687" cy="1228725"/>
          </a:xfrm>
          <a:prstGeom prst="rect">
            <a:avLst/>
          </a:prstGeom>
          <a:solidFill>
            <a:srgbClr val="DFE9E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758875" y="2978497"/>
            <a:ext cx="166116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highlight>
                  <a:srgbClr val="D7E4DC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RETROSPECTIVE / T4</a:t>
            </a:r>
            <a:endParaRPr lang="en-US" sz="720"/>
          </a:p>
        </p:txBody>
      </p:sp>
      <p:sp>
        <p:nvSpPr>
          <p:cNvPr id="19" name="Text 16"/>
          <p:cNvSpPr/>
          <p:nvPr/>
        </p:nvSpPr>
        <p:spPr>
          <a:xfrm>
            <a:off x="4252020" y="2978497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174B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20"/>
          </a:p>
        </p:txBody>
      </p:sp>
      <p:sp>
        <p:nvSpPr>
          <p:cNvPr id="20" name="Text 17"/>
          <p:cNvSpPr/>
          <p:nvPr/>
        </p:nvSpPr>
        <p:spPr>
          <a:xfrm>
            <a:off x="630925" y="3100082"/>
            <a:ext cx="25925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8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Grid → calibrated risk</a:t>
            </a:r>
            <a:endParaRPr lang="en-US" sz="1580"/>
          </a:p>
        </p:txBody>
      </p:sp>
      <p:sp>
        <p:nvSpPr>
          <p:cNvPr id="22" name="Shape 19"/>
          <p:cNvSpPr/>
          <p:nvPr/>
        </p:nvSpPr>
        <p:spPr>
          <a:xfrm>
            <a:off x="4618211" y="2814340"/>
            <a:ext cx="3976687" cy="1228725"/>
          </a:xfrm>
          <a:prstGeom prst="rect">
            <a:avLst/>
          </a:prstGeom>
          <a:solidFill>
            <a:srgbClr val="E6EE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0"/>
          <p:cNvSpPr/>
          <p:nvPr/>
        </p:nvSpPr>
        <p:spPr>
          <a:xfrm>
            <a:off x="4827984" y="2978497"/>
            <a:ext cx="166116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53645D"/>
                </a:solidFill>
                <a:highlight>
                  <a:srgbClr val="DFE5D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GATED / DEPLOYMENT</a:t>
            </a:r>
            <a:endParaRPr lang="en-US" sz="720"/>
          </a:p>
        </p:txBody>
      </p:sp>
      <p:sp>
        <p:nvSpPr>
          <p:cNvPr id="24" name="Text 21"/>
          <p:cNvSpPr/>
          <p:nvPr/>
        </p:nvSpPr>
        <p:spPr>
          <a:xfrm>
            <a:off x="8321129" y="2978497"/>
            <a:ext cx="23543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6876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20"/>
          </a:p>
        </p:txBody>
      </p:sp>
      <p:sp>
        <p:nvSpPr>
          <p:cNvPr id="25" name="Text 22"/>
          <p:cNvSpPr/>
          <p:nvPr/>
        </p:nvSpPr>
        <p:spPr>
          <a:xfrm>
            <a:off x="4754835" y="3154883"/>
            <a:ext cx="282338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58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Evidence → field release</a:t>
            </a:r>
            <a:endParaRPr lang="en-US" sz="1580"/>
          </a:p>
        </p:txBody>
      </p:sp>
      <p:sp>
        <p:nvSpPr>
          <p:cNvPr id="27" name="Shape 24"/>
          <p:cNvSpPr/>
          <p:nvPr/>
        </p:nvSpPr>
        <p:spPr>
          <a:xfrm>
            <a:off x="547688" y="3943127"/>
            <a:ext cx="8048625" cy="481012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553648" y="4065618"/>
            <a:ext cx="7767481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Status: demonstrator-ready as an integrated evidence chain; not yet cleared for</a:t>
            </a:r>
            <a:endParaRPr lang="en-US" sz="1330" dirty="0"/>
          </a:p>
        </p:txBody>
      </p:sp>
      <p:sp>
        <p:nvSpPr>
          <p:cNvPr id="29" name="Text 26"/>
          <p:cNvSpPr/>
          <p:nvPr/>
        </p:nvSpPr>
        <p:spPr>
          <a:xfrm>
            <a:off x="547687" y="4286960"/>
            <a:ext cx="456196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30" dirty="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production or end-to-end clinical deployment.</a:t>
            </a:r>
            <a:endParaRPr lang="en-US" sz="1330" dirty="0"/>
          </a:p>
        </p:txBody>
      </p:sp>
      <p:sp>
        <p:nvSpPr>
          <p:cNvPr id="30" name="Text 27"/>
          <p:cNvSpPr/>
          <p:nvPr/>
        </p:nvSpPr>
        <p:spPr>
          <a:xfrm>
            <a:off x="7313488" y="4166741"/>
            <a:ext cx="172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READINESS / GATES</a:t>
            </a:r>
            <a:endParaRPr lang="en-US" sz="790"/>
          </a:p>
        </p:txBody>
      </p:sp>
      <p:sp>
        <p:nvSpPr>
          <p:cNvPr id="31" name="Text 28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32" name="Text 29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76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3943127"/>
            <a:ext cx="8048625" cy="48101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16C9D9D-793E-5D1A-5DD3-6823C7B28E38}"/>
              </a:ext>
            </a:extLst>
          </p:cNvPr>
          <p:cNvSpPr txBox="1"/>
          <p:nvPr/>
        </p:nvSpPr>
        <p:spPr>
          <a:xfrm>
            <a:off x="685590" y="2208189"/>
            <a:ext cx="317120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a typeface="+mn-lt"/>
                <a:cs typeface="+mn-lt"/>
              </a:rPr>
              <a:t>Evaluation results from all four tiers were reviewed together to confirm model performance, spatial speed, robustness, and reliability.</a:t>
            </a:r>
            <a:endParaRPr lang="en-US" sz="1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B378EE-4C9B-114A-4E01-B2EB00E95264}"/>
              </a:ext>
            </a:extLst>
          </p:cNvPr>
          <p:cNvSpPr txBox="1"/>
          <p:nvPr/>
        </p:nvSpPr>
        <p:spPr>
          <a:xfrm>
            <a:off x="4756548" y="2106414"/>
            <a:ext cx="317120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Evaluation results from all four tiers were reviewed together to confirm model performance, spatial speed, robustness, and reliability.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94F117-D416-7EE9-F805-A3299CE469F3}"/>
              </a:ext>
            </a:extLst>
          </p:cNvPr>
          <p:cNvSpPr txBox="1"/>
          <p:nvPr/>
        </p:nvSpPr>
        <p:spPr>
          <a:xfrm>
            <a:off x="756048" y="3390332"/>
            <a:ext cx="317120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Lowering the FMD decision threshold from 0.50 to 0.40 improved outbreak recall from </a:t>
            </a:r>
            <a:r>
              <a:rPr lang="en-US" sz="1000" b="1">
                <a:ea typeface="+mn-lt"/>
                <a:cs typeface="+mn-lt"/>
              </a:rPr>
              <a:t>47.4% to 67.9%</a:t>
            </a:r>
            <a:r>
              <a:rPr lang="en-US" sz="1000">
                <a:ea typeface="+mn-lt"/>
                <a:cs typeface="+mn-lt"/>
              </a:rPr>
              <a:t>, while accepting more false-positive alerts.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154B61-4972-D620-5D18-3C160D5AAB52}"/>
              </a:ext>
            </a:extLst>
          </p:cNvPr>
          <p:cNvSpPr txBox="1"/>
          <p:nvPr/>
        </p:nvSpPr>
        <p:spPr>
          <a:xfrm>
            <a:off x="4756548" y="3429476"/>
            <a:ext cx="317120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The integrated software pipeline passed </a:t>
            </a:r>
            <a:r>
              <a:rPr lang="en-US" sz="1000" b="1">
                <a:ea typeface="+mn-lt"/>
                <a:cs typeface="+mn-lt"/>
              </a:rPr>
              <a:t>862 of 862 automated tests</a:t>
            </a:r>
            <a:r>
              <a:rPr lang="en-US" sz="1000">
                <a:ea typeface="+mn-lt"/>
                <a:cs typeface="+mn-lt"/>
              </a:rPr>
              <a:t>, covering both backend and frontend verification.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931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57307" y="258031"/>
            <a:ext cx="528638" cy="528638"/>
          </a:xfrm>
          <a:prstGeom prst="ellipse">
            <a:avLst/>
          </a:prstGeom>
          <a:ln w="4763">
            <a:solidFill>
              <a:srgbClr val="184C3C">
                <a:alpha val="25098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1"/>
          <p:cNvSpPr/>
          <p:nvPr/>
        </p:nvSpPr>
        <p:spPr>
          <a:xfrm>
            <a:off x="8395395" y="496119"/>
            <a:ext cx="52388" cy="52388"/>
          </a:xfrm>
          <a:prstGeom prst="ellipse">
            <a:avLst/>
          </a:prstGeom>
          <a:solidFill>
            <a:srgbClr val="A16F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548580" y="416198"/>
            <a:ext cx="22138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COMMERCIALIZATION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548580" y="558478"/>
            <a:ext cx="7472720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020" kern="0" spc="-136">
                <a:solidFill>
                  <a:srgbClr val="1F2B2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Commercialization &amp; demo roadmap</a:t>
            </a:r>
            <a:endParaRPr lang="en-US" sz="3020"/>
          </a:p>
        </p:txBody>
      </p:sp>
      <p:sp>
        <p:nvSpPr>
          <p:cNvPr id="7" name="Shape 4"/>
          <p:cNvSpPr/>
          <p:nvPr/>
        </p:nvSpPr>
        <p:spPr>
          <a:xfrm>
            <a:off x="549473" y="1491555"/>
            <a:ext cx="3957638" cy="2438400"/>
          </a:xfrm>
          <a:prstGeom prst="rect">
            <a:avLst/>
          </a:prstGeom>
          <a:solidFill>
            <a:srgbClr val="E6EEE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713780" y="1655676"/>
            <a:ext cx="3629025" cy="466725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713110" y="1670372"/>
            <a:ext cx="284824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Beachhead &amp; value</a:t>
            </a:r>
            <a:endParaRPr lang="en-US" sz="2020"/>
          </a:p>
        </p:txBody>
      </p:sp>
      <p:sp>
        <p:nvSpPr>
          <p:cNvPr id="10" name="Text 7"/>
          <p:cNvSpPr/>
          <p:nvPr/>
        </p:nvSpPr>
        <p:spPr>
          <a:xfrm>
            <a:off x="3795117" y="1907753"/>
            <a:ext cx="77001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6876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PROPOSED</a:t>
            </a:r>
            <a:endParaRPr lang="en-US" sz="720"/>
          </a:p>
        </p:txBody>
      </p:sp>
      <p:sp>
        <p:nvSpPr>
          <p:cNvPr id="11" name="Text 8"/>
          <p:cNvSpPr/>
          <p:nvPr/>
        </p:nvSpPr>
        <p:spPr>
          <a:xfrm>
            <a:off x="713110" y="2265238"/>
            <a:ext cx="4735317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>
                <a:solidFill>
                  <a:srgbClr val="174B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 users:</a:t>
            </a: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veterinary services, field officers, and district surveillance</a:t>
            </a:r>
            <a:endParaRPr lang="en-US" sz="86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teams.</a:t>
            </a:r>
            <a:endParaRPr lang="en-US" sz="860"/>
          </a:p>
        </p:txBody>
      </p:sp>
      <p:sp>
        <p:nvSpPr>
          <p:cNvPr id="12" name="Text 9"/>
          <p:cNvSpPr/>
          <p:nvPr/>
        </p:nvSpPr>
        <p:spPr>
          <a:xfrm>
            <a:off x="713110" y="2658740"/>
            <a:ext cx="4297769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>
                <a:solidFill>
                  <a:srgbClr val="174B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Packaging:</a:t>
            </a: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mobile farmer / field capture → veterinarian console →</a:t>
            </a:r>
            <a:endParaRPr lang="en-US" sz="86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district dashboard and API.</a:t>
            </a:r>
            <a:endParaRPr lang="en-US" sz="860"/>
          </a:p>
        </p:txBody>
      </p:sp>
      <p:sp>
        <p:nvSpPr>
          <p:cNvPr id="13" name="Text 10"/>
          <p:cNvSpPr/>
          <p:nvPr/>
        </p:nvSpPr>
        <p:spPr>
          <a:xfrm>
            <a:off x="713110" y="3052242"/>
            <a:ext cx="4428946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>
                <a:solidFill>
                  <a:srgbClr val="174B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Value:</a:t>
            </a: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prioritize visits, expose uncertainty, map response zones, and</a:t>
            </a:r>
            <a:endParaRPr lang="en-US" sz="86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manual reporting friction.</a:t>
            </a:r>
            <a:endParaRPr lang="en-US" sz="860"/>
          </a:p>
        </p:txBody>
      </p:sp>
      <p:sp>
        <p:nvSpPr>
          <p:cNvPr id="14" name="Text 11"/>
          <p:cNvSpPr/>
          <p:nvPr/>
        </p:nvSpPr>
        <p:spPr>
          <a:xfrm>
            <a:off x="713110" y="3445743"/>
            <a:ext cx="4706392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b="1">
                <a:solidFill>
                  <a:srgbClr val="174B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Claim boundary:</a:t>
            </a: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decision support only until prospective and end-to-end</a:t>
            </a:r>
            <a:endParaRPr lang="en-US" sz="86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validation.</a:t>
            </a:r>
            <a:endParaRPr lang="en-US" sz="860"/>
          </a:p>
        </p:txBody>
      </p:sp>
      <p:sp>
        <p:nvSpPr>
          <p:cNvPr id="15" name="Shape 12"/>
          <p:cNvSpPr/>
          <p:nvPr/>
        </p:nvSpPr>
        <p:spPr>
          <a:xfrm>
            <a:off x="4636889" y="1491555"/>
            <a:ext cx="3957638" cy="2438400"/>
          </a:xfrm>
          <a:prstGeom prst="rect">
            <a:avLst/>
          </a:prstGeom>
          <a:solidFill>
            <a:srgbClr val="EADFC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801195" y="1655676"/>
            <a:ext cx="3629025" cy="466725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4800526" y="1670372"/>
            <a:ext cx="318527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>
                <a:solidFill>
                  <a:srgbClr val="174B3D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Demo → pilot → scale</a:t>
            </a:r>
            <a:endParaRPr lang="en-US" sz="2020"/>
          </a:p>
        </p:txBody>
      </p:sp>
      <p:sp>
        <p:nvSpPr>
          <p:cNvPr id="18" name="Text 15"/>
          <p:cNvSpPr/>
          <p:nvPr/>
        </p:nvSpPr>
        <p:spPr>
          <a:xfrm>
            <a:off x="7951068" y="1907753"/>
            <a:ext cx="6809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8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</a:t>
            </a:r>
            <a:endParaRPr lang="en-US" sz="720"/>
          </a:p>
        </p:txBody>
      </p:sp>
      <p:sp>
        <p:nvSpPr>
          <p:cNvPr id="19" name="Text 16"/>
          <p:cNvSpPr/>
          <p:nvPr/>
        </p:nvSpPr>
        <p:spPr>
          <a:xfrm>
            <a:off x="4800526" y="2265238"/>
            <a:ext cx="4392089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>
                <a:solidFill>
                  <a:srgbClr val="7C58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/ Research demo:</a:t>
            </a: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replay retrospective FMD/LSD grids; show triage,</a:t>
            </a:r>
            <a:endParaRPr lang="en-US" sz="83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maps, calibrated risk, and audit evidence.</a:t>
            </a:r>
            <a:endParaRPr lang="en-US" sz="830"/>
          </a:p>
        </p:txBody>
      </p:sp>
      <p:sp>
        <p:nvSpPr>
          <p:cNvPr id="20" name="Text 17"/>
          <p:cNvSpPr/>
          <p:nvPr/>
        </p:nvSpPr>
        <p:spPr>
          <a:xfrm>
            <a:off x="4800526" y="2639690"/>
            <a:ext cx="4470254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>
                <a:solidFill>
                  <a:srgbClr val="7C58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Authorized pilot:</a:t>
            </a: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connect DAPH transmission with provenance and</a:t>
            </a:r>
            <a:endParaRPr lang="en-US" sz="83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leakage-safe temporal processing.</a:t>
            </a:r>
            <a:endParaRPr lang="en-US" sz="830"/>
          </a:p>
        </p:txBody>
      </p:sp>
      <p:sp>
        <p:nvSpPr>
          <p:cNvPr id="21" name="Text 18"/>
          <p:cNvSpPr/>
          <p:nvPr/>
        </p:nvSpPr>
        <p:spPr>
          <a:xfrm>
            <a:off x="4800526" y="3014142"/>
            <a:ext cx="466798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>
                <a:solidFill>
                  <a:srgbClr val="7C58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Prospective validation:</a:t>
            </a: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test thresholds, latency, usability, and end-to-end</a:t>
            </a:r>
            <a:endParaRPr lang="en-US" sz="830"/>
          </a:p>
        </p:txBody>
      </p:sp>
      <p:sp>
        <p:nvSpPr>
          <p:cNvPr id="22" name="Text 19"/>
          <p:cNvSpPr/>
          <p:nvPr/>
        </p:nvSpPr>
        <p:spPr>
          <a:xfrm>
            <a:off x="5003750" y="3171825"/>
            <a:ext cx="164404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66"/>
              </a:spcAft>
              <a:buNone/>
            </a:pP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handoffs with field teams.</a:t>
            </a:r>
            <a:endParaRPr lang="en-US" sz="830"/>
          </a:p>
        </p:txBody>
      </p:sp>
      <p:sp>
        <p:nvSpPr>
          <p:cNvPr id="23" name="Text 20"/>
          <p:cNvSpPr/>
          <p:nvPr/>
        </p:nvSpPr>
        <p:spPr>
          <a:xfrm>
            <a:off x="4800526" y="3388593"/>
            <a:ext cx="4313828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>
                <a:solidFill>
                  <a:srgbClr val="7C58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Scale:</a:t>
            </a: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expand districts, procurement packaging, monitoring, and</a:t>
            </a:r>
            <a:endParaRPr lang="en-US" sz="83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>
                <a:solidFill>
                  <a:srgbClr val="5364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after evidence gates.</a:t>
            </a:r>
            <a:endParaRPr lang="en-US" sz="830"/>
          </a:p>
        </p:txBody>
      </p:sp>
      <p:sp>
        <p:nvSpPr>
          <p:cNvPr id="24" name="Shape 21"/>
          <p:cNvSpPr/>
          <p:nvPr/>
        </p:nvSpPr>
        <p:spPr>
          <a:xfrm>
            <a:off x="547688" y="4008239"/>
            <a:ext cx="8048625" cy="414338"/>
          </a:xfrm>
          <a:prstGeom prst="rect">
            <a:avLst/>
          </a:prstGeom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548580" y="4114949"/>
            <a:ext cx="7961828" cy="306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commercial path is gated by the same scientific disclosures: LSD 2024 fold collapse, strict-independent weakness,</a:t>
            </a:r>
            <a:endParaRPr lang="en-US" sz="90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>
                <a:solidFill>
                  <a:srgbClr val="687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same-month nowcasting, DAPH authorization, and leakage-safe validation remain visible.</a:t>
            </a:r>
            <a:endParaRPr lang="en-US" sz="900"/>
          </a:p>
        </p:txBody>
      </p:sp>
      <p:sp>
        <p:nvSpPr>
          <p:cNvPr id="26" name="Text 23"/>
          <p:cNvSpPr/>
          <p:nvPr/>
        </p:nvSpPr>
        <p:spPr>
          <a:xfrm>
            <a:off x="6766471" y="4123060"/>
            <a:ext cx="2017841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kern="0" spc="119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SEPARATE CLAIMS FROM</a:t>
            </a:r>
            <a:endParaRPr lang="en-US" sz="790"/>
          </a:p>
          <a:p>
            <a:pPr marL="0" indent="0" algn="l">
              <a:lnSpc>
                <a:spcPts val="1188"/>
              </a:lnSpc>
              <a:buNone/>
            </a:pPr>
            <a:r>
              <a:rPr lang="en-US" sz="790" kern="0" spc="119">
                <a:solidFill>
                  <a:srgbClr val="A16F3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PLANS</a:t>
            </a:r>
            <a:endParaRPr lang="en-US" sz="790"/>
          </a:p>
        </p:txBody>
      </p:sp>
      <p:sp>
        <p:nvSpPr>
          <p:cNvPr id="27" name="Text 24"/>
          <p:cNvSpPr/>
          <p:nvPr/>
        </p:nvSpPr>
        <p:spPr>
          <a:xfrm>
            <a:off x="548580" y="4783113"/>
            <a:ext cx="26778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RESEARCH PRESENTATION</a:t>
            </a:r>
            <a:endParaRPr lang="en-US" sz="760"/>
          </a:p>
        </p:txBody>
      </p:sp>
      <p:sp>
        <p:nvSpPr>
          <p:cNvPr id="28" name="Text 25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48E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76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780" y="1655676"/>
            <a:ext cx="3629025" cy="466725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195" y="1655676"/>
            <a:ext cx="3629025" cy="466725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4008239"/>
            <a:ext cx="8048625" cy="41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5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580" y="467618"/>
            <a:ext cx="15276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19" dirty="0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CONCLUSION</a:t>
            </a:r>
            <a:endParaRPr lang="en-US" sz="790" dirty="0"/>
          </a:p>
        </p:txBody>
      </p:sp>
      <p:sp>
        <p:nvSpPr>
          <p:cNvPr id="5" name="Text 1"/>
          <p:cNvSpPr/>
          <p:nvPr/>
        </p:nvSpPr>
        <p:spPr>
          <a:xfrm>
            <a:off x="548580" y="595610"/>
            <a:ext cx="8907252" cy="62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3600" kern="0" spc="-162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Four tiers make the signal actionable.</a:t>
            </a:r>
            <a:endParaRPr lang="en-US" sz="3600"/>
          </a:p>
        </p:txBody>
      </p:sp>
      <p:sp>
        <p:nvSpPr>
          <p:cNvPr id="6" name="Text 2"/>
          <p:cNvSpPr/>
          <p:nvPr/>
        </p:nvSpPr>
        <p:spPr>
          <a:xfrm>
            <a:off x="548580" y="1771650"/>
            <a:ext cx="876359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E2E8D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ADRS connects farm wellness triage, open-world clinical evidence, geospatial</a:t>
            </a:r>
            <a:endParaRPr lang="en-US" sz="1550"/>
          </a:p>
        </p:txBody>
      </p:sp>
      <p:sp>
        <p:nvSpPr>
          <p:cNvPr id="7" name="Text 3"/>
          <p:cNvSpPr/>
          <p:nvPr/>
        </p:nvSpPr>
        <p:spPr>
          <a:xfrm>
            <a:off x="548580" y="1991841"/>
            <a:ext cx="83653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E2E8D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trajectories, and district-level concurrent risk nowcasting—while keeping</a:t>
            </a:r>
            <a:endParaRPr lang="en-US" sz="1550"/>
          </a:p>
        </p:txBody>
      </p:sp>
      <p:sp>
        <p:nvSpPr>
          <p:cNvPr id="8" name="Text 4"/>
          <p:cNvSpPr/>
          <p:nvPr/>
        </p:nvSpPr>
        <p:spPr>
          <a:xfrm>
            <a:off x="548580" y="2212032"/>
            <a:ext cx="843487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>
                <a:solidFill>
                  <a:srgbClr val="E2E8D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split-specific performance, stakeholder value, and data limitations visible.</a:t>
            </a:r>
            <a:endParaRPr lang="en-US" sz="1550"/>
          </a:p>
        </p:txBody>
      </p:sp>
      <p:sp>
        <p:nvSpPr>
          <p:cNvPr id="9" name="Text 5"/>
          <p:cNvSpPr/>
          <p:nvPr/>
        </p:nvSpPr>
        <p:spPr>
          <a:xfrm>
            <a:off x="548580" y="2578671"/>
            <a:ext cx="8028481" cy="296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0"/>
              </a:lnSpc>
              <a:buNone/>
            </a:pPr>
            <a:r>
              <a:rPr lang="en-US" sz="860" dirty="0">
                <a:solidFill>
                  <a:srgbClr val="9DB3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862 / 862 tests passed. Commercial posture: demonstrator-ready, deployment-gated.</a:t>
            </a:r>
            <a:endParaRPr lang="en-US" sz="860" dirty="0"/>
          </a:p>
        </p:txBody>
      </p:sp>
      <p:sp>
        <p:nvSpPr>
          <p:cNvPr id="10" name="Text 6"/>
          <p:cNvSpPr/>
          <p:nvPr/>
        </p:nvSpPr>
        <p:spPr>
          <a:xfrm>
            <a:off x="548580" y="3420285"/>
            <a:ext cx="66920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1 TRIAGE</a:t>
            </a:r>
            <a:r>
              <a:rPr lang="en-US" sz="1300">
                <a:solidFill>
                  <a:srgbClr val="D5B6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r>
              <a:rPr lang="en-US" sz="760" kern="0" spc="113">
                <a:solidFill>
                  <a:srgbClr val="D7E0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2 CLINICAL</a:t>
            </a:r>
            <a:r>
              <a:rPr lang="en-US" sz="1300">
                <a:solidFill>
                  <a:srgbClr val="D5B6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r>
              <a:rPr lang="en-US" sz="760" kern="0" spc="113">
                <a:solidFill>
                  <a:srgbClr val="D7E0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3 SPATIAL</a:t>
            </a:r>
            <a:r>
              <a:rPr lang="en-US" sz="1300">
                <a:solidFill>
                  <a:srgbClr val="D5B67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r>
              <a:rPr lang="en-US" sz="760" kern="0" spc="113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TIER 4 NOWCAST</a:t>
            </a:r>
            <a:endParaRPr lang="en-US" sz="760"/>
          </a:p>
        </p:txBody>
      </p:sp>
      <p:sp>
        <p:nvSpPr>
          <p:cNvPr id="11" name="Text 7"/>
          <p:cNvSpPr/>
          <p:nvPr/>
        </p:nvSpPr>
        <p:spPr>
          <a:xfrm>
            <a:off x="767786" y="3845827"/>
            <a:ext cx="1737784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>
                <a:solidFill>
                  <a:srgbClr val="F4F0E8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Thank you</a:t>
            </a:r>
            <a:endParaRPr lang="en-US" sz="2160"/>
          </a:p>
        </p:txBody>
      </p:sp>
      <p:sp>
        <p:nvSpPr>
          <p:cNvPr id="12" name="Text 8"/>
          <p:cNvSpPr/>
          <p:nvPr/>
        </p:nvSpPr>
        <p:spPr>
          <a:xfrm>
            <a:off x="548580" y="4489921"/>
            <a:ext cx="595383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760" kern="0" spc="113">
                <a:solidFill>
                  <a:srgbClr val="D5B6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 &amp; DISCUSSION · NO CLAIM OF FULL END-TO-END VALIDATION</a:t>
            </a:r>
            <a:endParaRPr lang="en-US" sz="760"/>
          </a:p>
        </p:txBody>
      </p:sp>
      <p:sp>
        <p:nvSpPr>
          <p:cNvPr id="13" name="Text 9"/>
          <p:cNvSpPr/>
          <p:nvPr/>
        </p:nvSpPr>
        <p:spPr>
          <a:xfrm>
            <a:off x="548580" y="4783113"/>
            <a:ext cx="249069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ADRS / END OF PRESENTATION</a:t>
            </a:r>
            <a:endParaRPr lang="en-US" sz="760"/>
          </a:p>
        </p:txBody>
      </p:sp>
      <p:sp>
        <p:nvSpPr>
          <p:cNvPr id="14" name="Text 10"/>
          <p:cNvSpPr/>
          <p:nvPr/>
        </p:nvSpPr>
        <p:spPr>
          <a:xfrm>
            <a:off x="8091339" y="4783113"/>
            <a:ext cx="7124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113" dirty="0">
                <a:solidFill>
                  <a:srgbClr val="8AA4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12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1189</Words>
  <Application>Microsoft Office PowerPoint</Application>
  <PresentationFormat>On-screen Show (16:9)</PresentationFormat>
  <Paragraphs>231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DM Serif Display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Athulathmudali A.L.M. it21129544</cp:lastModifiedBy>
  <cp:revision>13</cp:revision>
  <dcterms:created xsi:type="dcterms:W3CDTF">2026-08-31T05:17:38Z</dcterms:created>
  <dcterms:modified xsi:type="dcterms:W3CDTF">2026-09-02T14:38:38Z</dcterms:modified>
</cp:coreProperties>
</file>